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12192000"/>
  <p:notesSz cx="6858000" cy="9144000"/>
  <p:embeddedFontLst>
    <p:embeddedFont>
      <p:font typeface="Garamond"/>
      <p:regular r:id="rId13"/>
      <p:bold r:id="rId14"/>
      <p:italic r:id="rId15"/>
      <p:boldItalic r:id="rId16"/>
    </p:embeddedFont>
    <p:embeddedFont>
      <p:font typeface="Oswal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9" roundtripDataSignature="AMtx7mgSta+fZv5Zqp4IgHLUMy4tewOj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A318DC2-3BC8-48AB-A599-78308DF2A243}">
  <a:tblStyle styleId="{1A318DC2-3BC8-48AB-A599-78308DF2A24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F1F5"/>
          </a:solidFill>
        </a:fill>
      </a:tcStyle>
    </a:wholeTbl>
    <a:band1H>
      <a:tcTxStyle/>
      <a:tcStyle>
        <a:fill>
          <a:solidFill>
            <a:srgbClr val="CEE2EA"/>
          </a:solidFill>
        </a:fill>
      </a:tcStyle>
    </a:band1H>
    <a:band2H>
      <a:tcTxStyle/>
    </a:band2H>
    <a:band1V>
      <a:tcTxStyle/>
      <a:tcStyle>
        <a:fill>
          <a:solidFill>
            <a:srgbClr val="CEE2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5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5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5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5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Garamond-regular.fntdata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Garamond-italic.fntdata"/><Relationship Id="rId14" Type="http://schemas.openxmlformats.org/officeDocument/2006/relationships/font" Target="fonts/Garamond-bold.fntdata"/><Relationship Id="rId17" Type="http://schemas.openxmlformats.org/officeDocument/2006/relationships/font" Target="fonts/Oswald-regular.fntdata"/><Relationship Id="rId16" Type="http://schemas.openxmlformats.org/officeDocument/2006/relationships/font" Target="fonts/Garamond-boldItalic.fntdata"/><Relationship Id="rId5" Type="http://schemas.openxmlformats.org/officeDocument/2006/relationships/slideMaster" Target="slideMasters/slideMaster1.xml"/><Relationship Id="rId19" Type="http://customschemas.google.com/relationships/presentationmetadata" Target="metadata"/><Relationship Id="rId6" Type="http://schemas.openxmlformats.org/officeDocument/2006/relationships/notesMaster" Target="notesMasters/notesMaster1.xml"/><Relationship Id="rId18" Type="http://schemas.openxmlformats.org/officeDocument/2006/relationships/font" Target="fonts/Oswa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5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5656780" y="851521"/>
            <a:ext cx="4638605" cy="5154967"/>
          </a:xfrm>
          <a:custGeom>
            <a:rect b="b" l="l" r="r" t="t"/>
            <a:pathLst>
              <a:path extrusionOk="0" h="5154967" w="6184806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59916" t="0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>
            <p:ph type="ctrTitle"/>
          </p:nvPr>
        </p:nvSpPr>
        <p:spPr>
          <a:xfrm>
            <a:off x="331286" y="-526757"/>
            <a:ext cx="10363200" cy="2076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b="1" sz="400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331286" y="2076450"/>
            <a:ext cx="5924700" cy="36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ID: </a:t>
            </a:r>
            <a:r>
              <a:rPr b="0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SIH26099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Title: </a:t>
            </a:r>
            <a:r>
              <a:rPr b="0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AI-Driven Standardization and Harmonization of Material Codes Across CPSEs (MoPNG)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Theme: </a:t>
            </a:r>
            <a:r>
              <a:rPr b="0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Smart Automation / Clean &amp; Green Technology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 Category: </a:t>
            </a:r>
            <a:r>
              <a:rPr b="0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ID: </a:t>
            </a:r>
            <a:r>
              <a:rPr lang="en-US" sz="2000">
                <a:solidFill>
                  <a:schemeClr val="dk1"/>
                </a:solidFill>
              </a:rPr>
              <a:t>26P30</a:t>
            </a:r>
            <a:endParaRPr b="0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Name: </a:t>
            </a:r>
            <a:r>
              <a:rPr b="0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BharatCodex</a:t>
            </a:r>
            <a:endParaRPr b="0"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>
            <p:ph type="title"/>
          </p:nvPr>
        </p:nvSpPr>
        <p:spPr>
          <a:xfrm>
            <a:off x="182998" y="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Samanvay-AI: Cross-CPSE Material Harmonization Engine</a:t>
            </a:r>
            <a:endParaRPr/>
          </a:p>
        </p:txBody>
      </p:sp>
      <p:sp>
        <p:nvSpPr>
          <p:cNvPr id="102" name="Google Shape;102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descr="Your startup LOGO" id="103" name="Google Shape;103;p2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BharatCodex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 txBox="1"/>
          <p:nvPr/>
        </p:nvSpPr>
        <p:spPr>
          <a:xfrm>
            <a:off x="404640" y="1439199"/>
            <a:ext cx="3632219" cy="312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Detailed Explanation</a:t>
            </a:r>
            <a:endParaRPr/>
          </a:p>
          <a:p>
            <a:pPr indent="0" lvl="0" marL="0" marR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Unified Material Translator: </a:t>
            </a:r>
            <a:r>
              <a:rPr b="0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Connects different item codes across IOCL, ONGC, and BPCL into one shared, standard catalog without altering existing ERP systems.</a:t>
            </a:r>
            <a:endParaRPr/>
          </a:p>
          <a:p>
            <a:pPr indent="0" lvl="0" marL="0" marR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Smart Document Reading: </a:t>
            </a:r>
            <a:r>
              <a:rPr b="0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Uses AI to automatically read and pull technical specifications from ERP dumps, scanned challans, and test certificates.</a:t>
            </a:r>
            <a:endParaRPr/>
          </a:p>
          <a:p>
            <a:pPr indent="0" lvl="0" marL="0" marR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Safety-First Engineering Checks: </a:t>
            </a:r>
            <a:r>
              <a:rPr b="0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Strictly verifies dimensions, pressure ratings, and steel grades so only 100% safe, compatible parts are recommended.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4279890" y="1439199"/>
            <a:ext cx="3632219" cy="3323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It Addresses the Problem</a:t>
            </a:r>
            <a:endParaRPr/>
          </a:p>
          <a:p>
            <a:pPr indent="0" lvl="0" marL="0" marR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Zero Disruption to Existing ERPs: </a:t>
            </a:r>
            <a:r>
              <a:rPr b="0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Companies keep using their existing SAP/Oracle item codes</a:t>
            </a:r>
            <a:r>
              <a:rPr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0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Samanvay-AI acts as an external smart layer with zero database changes.</a:t>
            </a:r>
            <a:endParaRPr/>
          </a:p>
          <a:p>
            <a:pPr indent="0" lvl="0" marL="0" marR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Share Idle Spares Across Plants: </a:t>
            </a:r>
            <a:r>
              <a:rPr b="0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Instantly spots unused surplus sitting in sister depots (e.g., ONGC Hazira has spares IOCL Panipat needs), avoiding redundant buying.</a:t>
            </a:r>
            <a:endParaRPr/>
          </a:p>
          <a:p>
            <a:pPr indent="0" lvl="0" marL="0" marR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Combined Bulk Buying on GeM: </a:t>
            </a:r>
            <a:r>
              <a:rPr b="0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Combines common spare requirements across CPSEs to unlock high-volume bulk discounts on the Government e-Marketplace.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8155141" y="1439199"/>
            <a:ext cx="3632219" cy="312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Innovation &amp; Uniqueness</a:t>
            </a:r>
            <a:endParaRPr/>
          </a:p>
          <a:p>
            <a:pPr indent="0" lvl="0" marL="0" marR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Instant Certificate Intake: </a:t>
            </a:r>
            <a:r>
              <a:rPr b="0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Smart OCR automatically extracts technical specs directly from scanned Mill Test Certificates (MTCs) and delivery slips in seconds.</a:t>
            </a:r>
            <a:endParaRPr/>
          </a:p>
          <a:p>
            <a:pPr indent="0" lvl="0" marL="0" marR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Pre-Purchase Radar: </a:t>
            </a:r>
            <a:r>
              <a:rPr b="0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Alerts purchase officers if an identical spare is already lying idle at a nearby depot before placing a costly new order.</a:t>
            </a:r>
            <a:endParaRPr/>
          </a:p>
          <a:p>
            <a:pPr indent="0" lvl="0" marL="0" marR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3-Tier Safety Rating: </a:t>
            </a:r>
            <a:r>
              <a:rPr b="0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Categorizes every match into Tier-1 (Exact Match), Tier-2 (Safe Upgrade), or Tier-3 (Rejected/Unsafe) using strict engineering standards.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115" name="Google Shape;115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sp>
        <p:nvSpPr>
          <p:cNvPr descr="Your startup LOGO" id="116" name="Google Shape;116;p3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BharatCodex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8" name="Google Shape;118;p3"/>
          <p:cNvGraphicFramePr/>
          <p:nvPr/>
        </p:nvGraphicFramePr>
        <p:xfrm>
          <a:off x="236603" y="290285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{1A318DC2-3BC8-48AB-A599-78308DF2A243}</a:tableStyleId>
              </a:tblPr>
              <a:tblGrid>
                <a:gridCol w="1346625"/>
                <a:gridCol w="1873625"/>
                <a:gridCol w="1963800"/>
              </a:tblGrid>
              <a:tr h="396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/>
                        <a:t>Module</a:t>
                      </a:r>
                      <a:endParaRPr b="1"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Framework / Technology</a:t>
                      </a:r>
                      <a:endParaRPr b="1"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Role &amp; Functionality</a:t>
                      </a:r>
                      <a:endParaRPr b="1"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509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API &amp; Gateway</a:t>
                      </a:r>
                      <a:endParaRPr b="1"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/>
                        <a:t>FastAPI, Pydantic v2, PostgreSQL</a:t>
                      </a:r>
                      <a:endParaRPr b="0"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/>
                        <a:t>Fast &amp; secure backend connection, data validation, and complete audit logging</a:t>
                      </a:r>
                      <a:endParaRPr b="0"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509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AI &amp; Extraction</a:t>
                      </a:r>
                      <a:endParaRPr b="1"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/>
                        <a:t>PaddleOCR/PyMuPDF/PDFPlumber or related, DeBERTa-v3, BGE-M3</a:t>
                      </a:r>
                      <a:endParaRPr b="0"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/>
                        <a:t>Reads scanned certificates, pulls key technical specs, and finds matches in &lt;15ms</a:t>
                      </a:r>
                      <a:endParaRPr b="0"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651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Deterministic Core</a:t>
                      </a:r>
                      <a:endParaRPr b="1"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/>
                        <a:t>Vectorized Python (Polars, NumPy)</a:t>
                      </a:r>
                      <a:endParaRPr b="0"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/>
                        <a:t>Instant safety checks using strict engineering rules (ASME/ASTM) to prevent mismatches</a:t>
                      </a:r>
                      <a:endParaRPr b="0"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651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Graph &amp; Vector DB</a:t>
                      </a:r>
                      <a:endParaRPr b="1"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/>
                        <a:t>Neo4j (Knowledge Graph), Qdrant</a:t>
                      </a:r>
                      <a:endParaRPr b="0"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/>
                        <a:t>Links parts across all CPSE catalogs, maps to GeM/UNSPSC, and tracks spare locations</a:t>
                      </a:r>
                      <a:endParaRPr b="0"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651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Client Portal</a:t>
                      </a:r>
                      <a:endParaRPr b="1"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/>
                        <a:t>Next.js 16, React 19, Tailwind CSS, shadcn/ui</a:t>
                      </a:r>
                      <a:endParaRPr b="0"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/>
                        <a:t>Easy web dashboard for batch catalog uploads, 1-click approvals, and savings analytics</a:t>
                      </a:r>
                      <a:endParaRPr b="0"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19" name="Google Shape;119;p3"/>
          <p:cNvSpPr txBox="1"/>
          <p:nvPr/>
        </p:nvSpPr>
        <p:spPr>
          <a:xfrm>
            <a:off x="1414393" y="2521790"/>
            <a:ext cx="28284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Anticipated Tech Stack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6096000" y="2742767"/>
            <a:ext cx="50669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Implementation Methodology &amp; Architecture</a:t>
            </a:r>
            <a:endParaRPr b="1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5504863" y="3085981"/>
            <a:ext cx="6465475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Modular &amp; Reliable Architecture: </a:t>
            </a: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Clean separation between backend, AI models, and user interface ensures high performance and reliable operations.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100% Private &amp; Sovereign Deployment: </a:t>
            </a: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Runs entirely on secure government private cloud (NIC/RailTel) with zero external APIs—all sensitive data stays private.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Human-in-the-Loop Review: </a:t>
            </a: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Auto-approves clear matches (≥90%), while borderline cases (70%–90%) are shown side-by-side for quick 1-click human approval.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Safe, Plug-and-Play Integration: </a:t>
            </a: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Reads data securely from SAP MM / Oracle dumps without altering live transactional databases, guaranteeing zero operational risk.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329773" y="1095375"/>
            <a:ext cx="2515563" cy="15542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Stage 01: Smart Document Intake</a:t>
            </a:r>
            <a:endParaRPr/>
          </a:p>
          <a:p>
            <a:pPr indent="-17145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Dual-path parsing: Digital PDFs &amp; scanned certificates (MTCs).</a:t>
            </a:r>
            <a:endParaRPr/>
          </a:p>
          <a:p>
            <a:pPr indent="-17145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PaddleOCR/PyMuPDF/PDFPlumber: Handles rotated &amp; blurry scans in &lt; 50 ms.</a:t>
            </a:r>
            <a:endParaRPr/>
          </a:p>
          <a:p>
            <a:pPr indent="-17145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normalizer: Standardizes units, sizes, and messy enterprise dialects.</a:t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3188084" y="1079254"/>
            <a:ext cx="2515563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Stage 02: AI Spec Extraction &amp; Search</a:t>
            </a:r>
            <a:endParaRPr/>
          </a:p>
          <a:p>
            <a:pPr indent="-17145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DeBERTa-v3 AI: Extracts Item Type, Size, Rating &amp; Metallurgy.</a:t>
            </a:r>
            <a:endParaRPr/>
          </a:p>
          <a:p>
            <a:pPr indent="-17145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BGE-M3 + Qdrant: Fast semantic vector search in &lt; 15 ms.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Bridges dialects: Unifies abbreviations across IOCL, ONGC &amp; BPCL.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6046395" y="1087023"/>
            <a:ext cx="2515563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Stage 03: Engineering Safety Rules</a:t>
            </a:r>
            <a:endParaRPr/>
          </a:p>
          <a:p>
            <a:pPr indent="-17145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ASME / ASTM rules: Zero-tolerance size &amp; pressure rating checks.</a:t>
            </a:r>
            <a:endParaRPr/>
          </a:p>
          <a:p>
            <a:pPr indent="-17145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Prevents accidents: Overrides AI to block unsafe part mismatches.</a:t>
            </a:r>
            <a:endParaRPr/>
          </a:p>
          <a:p>
            <a:pPr indent="-17145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3-Tier safety tags: Tier-1 (Exact Match), Tier-2 (Upgrade), Tier-3 (Reject).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8841785" y="1059580"/>
            <a:ext cx="2673612" cy="15465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Stage 04: Cross-CPSE Sharing &amp; Portal </a:t>
            </a:r>
            <a:endParaRPr/>
          </a:p>
          <a:p>
            <a:pPr indent="-17145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Neo4j Knowledge Graph: Locates idle surplus spares at sister depots.</a:t>
            </a:r>
            <a:endParaRPr/>
          </a:p>
          <a:p>
            <a:pPr indent="-17145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GeM &amp; UNSPSC mapping: Aggregates demand across CPSEs for bulk volume savings.</a:t>
            </a:r>
            <a:endParaRPr/>
          </a:p>
          <a:p>
            <a:pPr indent="-171450" lvl="0" marL="1714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</a:pPr>
            <a:r>
              <a:rPr lang="en-US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Next.js Web Dashboard: Real-time procurement analytics and 1-click approvals.</a:t>
            </a:r>
            <a:endParaRPr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" name="Google Shape;126;p3"/>
          <p:cNvCxnSpPr>
            <a:stCxn id="122" idx="3"/>
          </p:cNvCxnSpPr>
          <p:nvPr/>
        </p:nvCxnSpPr>
        <p:spPr>
          <a:xfrm>
            <a:off x="2845336" y="1872511"/>
            <a:ext cx="520800" cy="1500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27" name="Google Shape;127;p3"/>
          <p:cNvCxnSpPr/>
          <p:nvPr/>
        </p:nvCxnSpPr>
        <p:spPr>
          <a:xfrm>
            <a:off x="5624395" y="1818650"/>
            <a:ext cx="471605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28" name="Google Shape;128;p3"/>
          <p:cNvCxnSpPr/>
          <p:nvPr/>
        </p:nvCxnSpPr>
        <p:spPr>
          <a:xfrm>
            <a:off x="8393688" y="1818650"/>
            <a:ext cx="471605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</p:spTree>
  </p:cSld>
  <p:clrMapOvr>
    <a:masterClrMapping/>
  </p:clrMapOvr>
  <p:transition spd="slow">
    <p:wipe dir="l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36" name="Google Shape;136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37" name="Google Shape;137;p4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BharatCodex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4"/>
          <p:cNvSpPr txBox="1"/>
          <p:nvPr/>
        </p:nvSpPr>
        <p:spPr>
          <a:xfrm>
            <a:off x="404640" y="1439199"/>
            <a:ext cx="3632219" cy="8771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Technical Scalability</a:t>
            </a:r>
            <a:br>
              <a:rPr b="1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Searches through 100,000 spare parts in under 15 milliseconds, handling large enterprise catalog uploads with instant safety checks.</a:t>
            </a:r>
            <a:endParaRPr/>
          </a:p>
        </p:txBody>
      </p:sp>
      <p:sp>
        <p:nvSpPr>
          <p:cNvPr id="140" name="Google Shape;140;p4"/>
          <p:cNvSpPr txBox="1"/>
          <p:nvPr/>
        </p:nvSpPr>
        <p:spPr>
          <a:xfrm>
            <a:off x="4279890" y="1439199"/>
            <a:ext cx="3632219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Operational Ease</a:t>
            </a:r>
            <a:br>
              <a:rPr b="1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Reads both clear digital PDFs and blurry mobile scans; intuitive web dashboard requires zero special training for warehouse and plant staff.</a:t>
            </a:r>
            <a:endParaRPr b="1"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8155141" y="1439199"/>
            <a:ext cx="3632219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Commercial Viability</a:t>
            </a:r>
            <a:br>
              <a:rPr b="1"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Complies fully with MoPNG public procurement rules and GeM guidelines, turning idle warehouse stock into freed working capital.</a:t>
            </a:r>
            <a:endParaRPr/>
          </a:p>
        </p:txBody>
      </p:sp>
      <p:graphicFrame>
        <p:nvGraphicFramePr>
          <p:cNvPr id="142" name="Google Shape;142;p4"/>
          <p:cNvGraphicFramePr/>
          <p:nvPr/>
        </p:nvGraphicFramePr>
        <p:xfrm>
          <a:off x="329773" y="25208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{1A318DC2-3BC8-48AB-A599-78308DF2A243}</a:tableStyleId>
              </a:tblPr>
              <a:tblGrid>
                <a:gridCol w="1812800"/>
                <a:gridCol w="4446775"/>
                <a:gridCol w="5123150"/>
              </a:tblGrid>
              <a:tr h="541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chemeClr val="dk1"/>
                          </a:solidFill>
                        </a:rPr>
                        <a:t>Dimension</a:t>
                      </a:r>
                      <a:endParaRPr b="1" sz="14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chemeClr val="dk1"/>
                          </a:solidFill>
                        </a:rPr>
                        <a:t>Identified Challenge &amp; Risk</a:t>
                      </a:r>
                      <a:endParaRPr b="1" sz="14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>
                          <a:solidFill>
                            <a:schemeClr val="dk1"/>
                          </a:solidFill>
                        </a:rPr>
                        <a:t>Strategic Mitigation Strategy</a:t>
                      </a:r>
                      <a:endParaRPr b="1" sz="14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/>
                </a:tc>
              </a:tr>
              <a:tr h="589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Safety in High-Pressure Plants</a:t>
                      </a:r>
                      <a:br>
                        <a:rPr b="1" lang="en-US" sz="1200"/>
                      </a:br>
                      <a:r>
                        <a:rPr b="1" lang="en-US" sz="1200"/>
                        <a:t>(Critical Process Spares)</a:t>
                      </a:r>
                      <a:endParaRPr b="1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/>
                        <a:t>AI might confuse two similar-looking parts (e.g., wrong pressure rating), risking pipe leaks or plant accidents.</a:t>
                      </a:r>
                      <a:endParaRPr b="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/>
                        <a:t>Deterministic Engineering Rules: Strict rules enforce zero tolerance on size, pressure, and metal grades—blocking unsafe AI suggestions every time.</a:t>
                      </a:r>
                      <a:endParaRPr b="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/>
                </a:tc>
              </a:tr>
              <a:tr h="541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User Adoption</a:t>
                      </a:r>
                      <a:br>
                        <a:rPr b="1" lang="en-US" sz="1200"/>
                      </a:br>
                      <a:r>
                        <a:rPr b="1" lang="en-US" sz="1200"/>
                        <a:t>(Plant &amp; Site Engineers)</a:t>
                      </a:r>
                      <a:endParaRPr b="1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/>
                        <a:t>Busy site engineers avoid using complicated tools with long manual forms during urgent plant maintenance.</a:t>
                      </a:r>
                      <a:endParaRPr b="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/>
                        <a:t>Zero-Typing Smart Upload: Auto-extracts specs from certificates in under 30 seconds; engineers only review simple green/amber verification badges.</a:t>
                      </a:r>
                      <a:endParaRPr b="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/>
                </a:tc>
              </a:tr>
              <a:tr h="541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Data Confidentiality</a:t>
                      </a:r>
                      <a:br>
                        <a:rPr b="1" lang="en-US" sz="1200"/>
                      </a:br>
                      <a:r>
                        <a:rPr b="1" lang="en-US" sz="1200"/>
                        <a:t>(Inter-CPSE Commercials)</a:t>
                      </a:r>
                      <a:endParaRPr b="1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/>
                        <a:t>Enterprises are reluctant to share sensitive supplier pricing, commercial discounts, or private vendor contracts.</a:t>
                      </a:r>
                      <a:endParaRPr b="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/>
                        <a:t>Attribute-Level Privacy: Cross-company search reveals only physical specs and depot inventory counts; commercial prices remain strictly hidden.</a:t>
                      </a:r>
                      <a:endParaRPr b="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/>
                </a:tc>
              </a:tr>
              <a:tr h="541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ERP Stability</a:t>
                      </a:r>
                      <a:br>
                        <a:rPr b="1" lang="en-US" sz="1200"/>
                      </a:br>
                      <a:r>
                        <a:rPr b="1" lang="en-US" sz="1200"/>
                        <a:t>(IT Infrastructure Safety)</a:t>
                      </a:r>
                      <a:endParaRPr b="1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/>
                        <a:t>IT teams worry about modifying live transactional tables or risking downtime in production SAP MM/Oracle databases.</a:t>
                      </a:r>
                      <a:endParaRPr b="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200"/>
                        <a:t>Zero-Risk Read-Only Layer: Connects purely as a safe reading layer—existing ERP databases and daily operations remain 100% untouched.</a:t>
                      </a:r>
                      <a:endParaRPr b="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5400" marB="25400" marR="63500" marL="63500" anchor="ctr"/>
                </a:tc>
              </a:tr>
            </a:tbl>
          </a:graphicData>
        </a:graphic>
      </p:graphicFrame>
    </p:spTree>
  </p:cSld>
  <p:clrMapOvr>
    <a:masterClrMapping/>
  </p:clrMapOvr>
  <p:transition spd="slow">
    <p:wipe dir="l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50" name="Google Shape;150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51" name="Google Shape;151;p5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BharatCodex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Google Shape;15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5"/>
          <p:cNvSpPr txBox="1"/>
          <p:nvPr/>
        </p:nvSpPr>
        <p:spPr>
          <a:xfrm>
            <a:off x="609600" y="1400092"/>
            <a:ext cx="3632219" cy="354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 Audience &amp; Operations</a:t>
            </a:r>
            <a:endParaRPr/>
          </a:p>
          <a:p>
            <a:pPr indent="0" lvl="0" marL="0" marR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Who It Helps: </a:t>
            </a: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Ministry of Petroleum (MoPNG), Oil PSUs (IOCL, ONGC, BPCL, HPCL, GAIL), refinery engineers, and depot purchase managers.</a:t>
            </a:r>
            <a:endParaRPr/>
          </a:p>
          <a:p>
            <a:pPr indent="0" lvl="0" marL="0" marR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Emergency Spares in Under 48 Hours: </a:t>
            </a: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Cuts spare part procurement time from 4–6 weeks of public tendering down to under 48 hours via sister company depots.</a:t>
            </a:r>
            <a:endParaRPr/>
          </a:p>
          <a:p>
            <a:pPr indent="0" lvl="0" marL="0" marR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Cleans Up to 35% Duplicate Items: </a:t>
            </a: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Eliminates confusing duplicate item codes across legacy SAP systems, creating one clean, standardized master catalog.</a:t>
            </a:r>
            <a:endParaRPr/>
          </a:p>
          <a:p>
            <a:pPr indent="0" lvl="0" marL="0" marR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Prevents Costly Plant Shutdowns: </a:t>
            </a: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Locates emergency replacement spares immediately, avoiding unplanned refinery outages that cost over 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upwards to Tens of</a:t>
            </a: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Lakhs per hour.</a:t>
            </a:r>
            <a:endParaRPr/>
          </a:p>
        </p:txBody>
      </p:sp>
      <p:sp>
        <p:nvSpPr>
          <p:cNvPr id="154" name="Google Shape;154;p5"/>
          <p:cNvSpPr txBox="1"/>
          <p:nvPr/>
        </p:nvSpPr>
        <p:spPr>
          <a:xfrm>
            <a:off x="4484850" y="1400092"/>
            <a:ext cx="3632219" cy="354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Economic &amp; Financial Impact</a:t>
            </a:r>
            <a:endParaRPr/>
          </a:p>
          <a:p>
            <a:pPr indent="0" lvl="0" marL="0" marR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Unlocks ₹100+ Crores: </a:t>
            </a: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Frees 15%–25% of dormant working capital trapped in idle, duplicate inventory across MoPNG enterprises.</a:t>
            </a:r>
            <a:endParaRPr/>
          </a:p>
          <a:p>
            <a:pPr indent="0" lvl="0" marL="0" marR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8%–15% Bulk Sourcing Savings: </a:t>
            </a: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Combines common purchasing demand across all oil companies to secure high-volume discounts on the Government e-Marketplace (GeM).</a:t>
            </a:r>
            <a:endParaRPr/>
          </a:p>
          <a:p>
            <a:pPr indent="0" lvl="0" marL="0" marR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Eliminates Rush-Purchase Premiums: </a:t>
            </a: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Avoids paying inflated spot-market prices and expensive emergency air-freight shipping during sudden equipment breakdowns.</a:t>
            </a:r>
            <a:endParaRPr/>
          </a:p>
          <a:p>
            <a:pPr indent="0" lvl="0" marL="0" marR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Lower Warehouse Holding Costs: </a:t>
            </a: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Reduces storage crowding, insurance fees, and obsolescence waste by sharing slow-moving backup and insurance spares.</a:t>
            </a:r>
            <a:endParaRPr/>
          </a:p>
        </p:txBody>
      </p:sp>
      <p:sp>
        <p:nvSpPr>
          <p:cNvPr id="155" name="Google Shape;155;p5"/>
          <p:cNvSpPr txBox="1"/>
          <p:nvPr/>
        </p:nvSpPr>
        <p:spPr>
          <a:xfrm>
            <a:off x="8360101" y="1400092"/>
            <a:ext cx="3632219" cy="354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Social, Strategic &amp; Green</a:t>
            </a:r>
            <a:endParaRPr/>
          </a:p>
          <a:p>
            <a:pPr indent="0" lvl="0" marL="0" marR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Aatmanirbhar Bharat: </a:t>
            </a: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Builds sovereign digital infrastructure for India's energy sector, strengthening energy security and cutting foreign import dependency.</a:t>
            </a:r>
            <a:endParaRPr/>
          </a:p>
          <a:p>
            <a:pPr indent="0" lvl="0" marL="0" marR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Zero Industrial Accidents: </a:t>
            </a: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Strict ASME/ASTM safety guardrails eliminate mismatched valves and flanges, preventing hazardous leaks, explosions, and plant fires.</a:t>
            </a:r>
            <a:endParaRPr/>
          </a:p>
          <a:p>
            <a:pPr indent="0" lvl="0" marL="0" marR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Greener Operations &amp; Lower Emissions: </a:t>
            </a: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Mobilizing existing domestic surplus stock avoids unnecessary new steel manufacturing and cuts redundant transport emissions.</a:t>
            </a:r>
            <a:endParaRPr/>
          </a:p>
          <a:p>
            <a:pPr indent="0" lvl="0" marL="0" marR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Inter-PSU Collaboration: </a:t>
            </a: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Pioneers seamless resource sharing and cooperative governance across India's premier public sector enterprises.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63" name="Google Shape;163;p6"/>
          <p:cNvSpPr txBox="1"/>
          <p:nvPr/>
        </p:nvSpPr>
        <p:spPr>
          <a:xfrm>
            <a:off x="329773" y="1400963"/>
            <a:ext cx="11539498" cy="35137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Engineering Safety &amp; Quality Standards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• </a:t>
            </a: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ASME B16.5 (2020): </a:t>
            </a: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Standard dimensions and pressure classes for industrial pipe flanges.</a:t>
            </a:r>
            <a:endParaRPr/>
          </a:p>
          <a:p>
            <a:pPr indent="0" lvl="0" marL="0" marR="0" rtl="0" algn="just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• </a:t>
            </a: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ASTM Specifications: </a:t>
            </a: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Material grades for carbon steel (A105), stainless steel (A182), and cast steel (A216).</a:t>
            </a:r>
            <a:endParaRPr/>
          </a:p>
          <a:p>
            <a:pPr indent="0" lvl="0" marL="0" marR="0" rtl="0" algn="just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• </a:t>
            </a: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API 6D &amp; API 600: </a:t>
            </a: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Manufacturing and testing standards for pipeline valves and plant gate valves.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• </a:t>
            </a: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10204 (3.1): </a:t>
            </a: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International standard for Mill Test Certificates (MTCs) and material traceability.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Artificial Intelligence &amp; Smart Search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• </a:t>
            </a: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DeBERTa-v3 (ICLR 2021): </a:t>
            </a: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Domain-adapted AI model for extracting physical attributes (size, rating, metallurgy) from messy text.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• </a:t>
            </a: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BGE-M3 Embeddings: </a:t>
            </a: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Multi-granularity embedding model for fast cross-dialect semantic similarity matching.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• </a:t>
            </a: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HNSW Vector Indexing: </a:t>
            </a: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High-speed graph search in Qdrant delivering candidate retrieval in under 15 milliseconds.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Document Intelligence &amp; Computer Vision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• </a:t>
            </a: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PaddleOCR (PP-OCRv4): </a:t>
            </a: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Ultra-lightweight OCR with automatic angle correction for rotated delivery slips and equipment nameplates.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• </a:t>
            </a: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PyMuPDF: </a:t>
            </a: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High-performance engine for sub-50ms text and table stream extraction from native digital PDF certificates.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Public Procurement &amp; Government Taxonomies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• </a:t>
            </a: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UNSPSC v26.0 &amp; GeM: </a:t>
            </a: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Standardized commodity codes and Government e-Marketplace schemas for public procurement.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• </a:t>
            </a: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MoPNG &amp; DPE Directives: </a:t>
            </a:r>
            <a:r>
              <a:rPr b="0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 of Public Enterprises guidelines on inventory rationalization and inter-PSU resource sharing.</a:t>
            </a:r>
            <a:endParaRPr/>
          </a:p>
        </p:txBody>
      </p:sp>
      <p:sp>
        <p:nvSpPr>
          <p:cNvPr id="164" name="Google Shape;164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descr="Your startup LOGO" id="165" name="Google Shape;165;p6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BharatCodex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0086" y="1500"/>
            <a:ext cx="2249850" cy="1062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2013-12-12T18:46:50Z</dcterms:created>
  <dc:creator>Crowdfunder</dc:creator>
</cp:coreProperties>
</file>