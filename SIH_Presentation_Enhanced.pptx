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697b617474dca" /><Relationship Type="http://schemas.openxmlformats.org/officeDocument/2006/relationships/extended-properties" Target="/docProps/app.xml" Id="R93465a0dab8e4fe9" /><Relationship Type="http://schemas.openxmlformats.org/officeDocument/2006/relationships/officeDocument" Target="/ppt/presentation.xml" Id="Re023bbf10f62417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0100d2e4bfe48d4"/>
  </p:sldMasterIdLst>
  <p:notesMasterIdLst>
    <p:notesMasterId xmlns:r="http://schemas.openxmlformats.org/officeDocument/2006/relationships" r:id="R64668fd040874ec3"/>
  </p:notesMasterIdLst>
  <p:sldIdLst>
    <p:sldId xmlns:r="http://schemas.openxmlformats.org/officeDocument/2006/relationships" id="256" r:id="R370c20b0de284c99"/>
    <p:sldId xmlns:r="http://schemas.openxmlformats.org/officeDocument/2006/relationships" id="257" r:id="R379a1d809cb74348"/>
    <p:sldId xmlns:r="http://schemas.openxmlformats.org/officeDocument/2006/relationships" id="258" r:id="R5fe5c8ba737d426a"/>
    <p:sldId xmlns:r="http://schemas.openxmlformats.org/officeDocument/2006/relationships" id="259" r:id="R55d4336a84224bfc"/>
    <p:sldId xmlns:r="http://schemas.openxmlformats.org/officeDocument/2006/relationships" id="260" r:id="R5b20a8e475874d38"/>
    <p:sldId xmlns:r="http://schemas.openxmlformats.org/officeDocument/2006/relationships" id="261" r:id="Rf5b62a302ff64aba"/>
  </p:sldIdLst>
  <p:sldSz cx="12192000" cy="6858000"/>
  <p:notesSz cx="6858000" cy="9144000"/>
  <p:embeddedFontLst>
    <p:embeddedFont>
      <p:font typeface="Garamond"/>
      <p:regular xmlns:r="http://schemas.openxmlformats.org/officeDocument/2006/relationships" r:id="R4ae9893937b242ce"/>
      <p:bold xmlns:r="http://schemas.openxmlformats.org/officeDocument/2006/relationships" r:id="R8da19e74ce774a31"/>
      <p:italic xmlns:r="http://schemas.openxmlformats.org/officeDocument/2006/relationships" r:id="Rf1398629c10f4276"/>
      <p:boldItalic xmlns:r="http://schemas.openxmlformats.org/officeDocument/2006/relationships" r:id="Ra1b23b9eb4e04451"/>
    </p:embeddedFont>
    <p:embeddedFont>
      <p:font typeface="Oswald"/>
      <p:regular xmlns:r="http://schemas.openxmlformats.org/officeDocument/2006/relationships" r:id="Rabc1ecba9f1b4b38"/>
      <p:bold xmlns:r="http://schemas.openxmlformats.org/officeDocument/2006/relationships" r:id="R40b90f9c2c3848f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1A318DC2-3BC8-48AB-A599-78308DF2A243}">
  <a:tblStyle styleId="{1A318DC2-3BC8-48AB-A599-78308DF2A2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/>
      <a:tcStyle>
        <a:tcBdr/>
        <a:fill>
          <a:solidFill>
            <a:srgbClr val="CEE2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E2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edcf6db7c4cc3" /><Relationship Type="http://schemas.openxmlformats.org/officeDocument/2006/relationships/slideMaster" Target="/ppt/slideMasters/slideMaster1.xml" Id="R10100d2e4bfe48d4" /><Relationship Type="http://schemas.openxmlformats.org/officeDocument/2006/relationships/notesMaster" Target="/ppt/notesMasters/notesMaster1.xml" Id="R64668fd040874ec3" /><Relationship Type="http://schemas.openxmlformats.org/officeDocument/2006/relationships/presProps" Target="/ppt/presProps.xml" Id="R0809ca9d0c6e466d" /><Relationship Type="http://schemas.openxmlformats.org/officeDocument/2006/relationships/viewProps" Target="/ppt/viewProps.xml" Id="R3e5e031a0e534399" /><Relationship Type="http://schemas.openxmlformats.org/officeDocument/2006/relationships/tableStyles" Target="/ppt/tableStyles.xml" Id="Rf438b3fe2396462e" /><Relationship Type="http://schemas.openxmlformats.org/officeDocument/2006/relationships/font" Target="/ppt/fonts/font.dat" Id="R4ae9893937b242ce" /><Relationship Type="http://schemas.openxmlformats.org/officeDocument/2006/relationships/font" Target="/ppt/fonts/font2.dat" Id="R8da19e74ce774a31" /><Relationship Type="http://schemas.openxmlformats.org/officeDocument/2006/relationships/font" Target="/ppt/fonts/font3.dat" Id="Rf1398629c10f4276" /><Relationship Type="http://schemas.openxmlformats.org/officeDocument/2006/relationships/font" Target="/ppt/fonts/font4.dat" Id="Ra1b23b9eb4e04451" /><Relationship Type="http://schemas.openxmlformats.org/officeDocument/2006/relationships/font" Target="/ppt/fonts/font5.dat" Id="Rabc1ecba9f1b4b38" /><Relationship Type="http://schemas.openxmlformats.org/officeDocument/2006/relationships/font" Target="/ppt/fonts/font6.dat" Id="R40b90f9c2c3848fb" /><Relationship Type="http://schemas.openxmlformats.org/officeDocument/2006/relationships/slide" Target="/ppt/slides/slide1.xml" Id="R370c20b0de284c99" /><Relationship Type="http://schemas.openxmlformats.org/officeDocument/2006/relationships/slide" Target="/ppt/slides/slide2.xml" Id="R379a1d809cb74348" /><Relationship Type="http://schemas.openxmlformats.org/officeDocument/2006/relationships/slide" Target="/ppt/slides/slide3.xml" Id="R5fe5c8ba737d426a" /><Relationship Type="http://schemas.openxmlformats.org/officeDocument/2006/relationships/slide" Target="/ppt/slides/slide4.xml" Id="R55d4336a84224bfc" /><Relationship Type="http://schemas.openxmlformats.org/officeDocument/2006/relationships/slide" Target="/ppt/slides/slide5.xml" Id="R5b20a8e475874d38" /><Relationship Type="http://schemas.openxmlformats.org/officeDocument/2006/relationships/slide" Target="/ppt/slides/slide6.xml" Id="Rf5b62a302ff64a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233391e6bc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1908f65594fe6" /><Relationship Type="http://schemas.openxmlformats.org/officeDocument/2006/relationships/notesMaster" Target="/ppt/notesMasters/notesMaster1.xml" Id="R0c7525a9a00b41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de6139a2e43f2" /><Relationship Type="http://schemas.openxmlformats.org/officeDocument/2006/relationships/notesMaster" Target="/ppt/notesMasters/notesMaster1.xml" Id="R1f1706a6d56d47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994849c3c43bf" /><Relationship Type="http://schemas.openxmlformats.org/officeDocument/2006/relationships/notesMaster" Target="/ppt/notesMasters/notesMaster1.xml" Id="Ra6c05c23a54e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fc00e338741fd" /><Relationship Type="http://schemas.openxmlformats.org/officeDocument/2006/relationships/notesMaster" Target="/ppt/notesMasters/notesMaster1.xml" Id="Re3e3ef0cb21d4d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2cb98d9ac4f61" /><Relationship Type="http://schemas.openxmlformats.org/officeDocument/2006/relationships/notesMaster" Target="/ppt/notesMasters/notesMaster1.xml" Id="R8e8683302ce84b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29782d4f845e3" /><Relationship Type="http://schemas.openxmlformats.org/officeDocument/2006/relationships/notesMaster" Target="/ppt/notesMasters/notesMaster1.xml" Id="Rb112a67174ea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 note: SIH Problem Statement 26099 calls for harmonizing material masters across CPSEs. The current repository demonstrates catalog ingestion, normalization, candidate matching, engineering review and audit workflows. It does not yet generate a national common material code, migrate legacy codes, or connect live ERP systems. Public scope cross-check: https://www.thirai.in/sih2026/sih26099?mode=vijay (public mirror; the SIH portal returned 403 during research).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details checked against frontend/package.json, backend/main.py, backend/app/services/match_service.py, backend/app/api/routers/match.py, backend/app/api/routers/ingest.py, backend/app/services/requisition_service.py, backend/app/services/audit_service.py, rules/tolerance.py and docker/docker-compose.yml. The active match route normalizes the query, retrieves through PostgreSQL filters, evaluates deterministic tolerance rules and combines rule and ranker scores (70/30); a failed rule forces Tier 3. Candidate retrieval currently does not use Qdrant. Compose provisions Qdrant and Neo4j; this does not establish that Qdrant is active in matching or that the environment is production deployed. The ranker loads model.xgb only if present and otherwise uses a weighted feature fallback. Human review and organization approval remain part of the operating concept; no autonomous substitution or ERP write-back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Feasibility is framed as an adoption plan for OIL and participating CPSEs, not proof of production readiness. Repository evidence: CSV/Excel catalog import is implemented; there is a Docker Compose configuration for frontend, backend, PostgreSQL 16, Neo4j 5.20 and Qdrant. The code includes authentication/roles, CPSE filtering, engineering rules, audit records, requisitions and review flows. Before an OIL pilot, the organization must supply approved data, validate rules against its standards and engineering authorities, approve hosting/cyber controls, and define the integration boundary. Live SAP/Oracle connector, enterprise identity integration, deployment approval and pilot results are not claimed as complete. Suggested viability gates are acceptance criteria to agree with OIL.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Impact is stated as potential benefit to the concerned public, with a concrete validation plan. Requesting OIL sites may find candidate stock more quickly; supplying CPSEs may get visibility for eligible surplus; procurement and oversight teams may gain comparison context and traceability. These are expected outcomes, not measured results. A field pilot should agree a baseline and report time to shortlist, engineering acceptance and rejection reasons, completed cross-CPSE transfers, verified avoided purchase orders, release cycle time and reused stock. No financial, downtime, emissions or safety outcome is quantified.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checked for this deck: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SIH Problem Statement 26099 public scope mirror: https://www.thirai.in/sih2026/sih26099?mode=vijay . The SIH site itself returned 403 during review; the title on slide 1 comes from the supplied original SIH presentation.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Government of India, Department of Expenditure, General Financial Rules 2017 updated 31 July 2025: https://doe.gov.in/files/circulars_document/UpdatedGFR31July2025_0.pdf . Rule 161 applies to advertised tender enquiry in the stated procurement conditions (₹50 lakh and above in the general rule) and ordinarily allows three weeks for bid submission. It does not mean every procurement takes 21 days, and does not substantiate a guaranteed 48-hour transfer.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Project implementation evidence: datasets/inventory_catalog.csv, datasets/golden_benchmarks.json, datasets/ocr_payloads.json, rules/ and backend/app/services/match_service.py.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Removed from earlier wording: aggregate idle-spares values, shutdown cost per day/hour, guaranteed procurement lead-time reduction, GeM savings, automatic-approval thresholds, live government-cloud deployment, latency guarantees, and benchmark accuracy claims. I did not find suitable current primary evidence tying those numbers to this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46054545441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e3e989a2246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6ebf3fc744d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bd9b24a7141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6f2fbdb734f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a2d6910f541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93d909dc344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be01b40a24d8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ae34e5a3b4c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693928f9948c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8aefca6534e4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8">
            <a:extLst xmlns:a="http://schemas.openxmlformats.org/drawingml/2006/main">
              <a:ext uri="{FF2B5EF4-FFF2-40B4-BE49-F238E27FC236}">
                <a16:creationId xmlns:a16="http://schemas.microsoft.com/office/drawing/2014/main" id="{587F1DB3-DD86-4E2A-8C5D-27C1125D97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8">
            <a:extLst xmlns:a="http://schemas.openxmlformats.org/drawingml/2006/main">
              <a:ext uri="{FF2B5EF4-FFF2-40B4-BE49-F238E27FC236}">
                <a16:creationId xmlns:a16="http://schemas.microsoft.com/office/drawing/2014/main" id="{7E9FEEA0-E5B5-438E-AB8A-6A691E11A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8">
            <a:extLst xmlns:a="http://schemas.openxmlformats.org/drawingml/2006/main">
              <a:ext uri="{FF2B5EF4-FFF2-40B4-BE49-F238E27FC236}">
                <a16:creationId xmlns:a16="http://schemas.microsoft.com/office/drawing/2014/main" id="{BFFFE26C-252B-4F03-AF9C-C111D1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8">
            <a:extLst xmlns:a="http://schemas.openxmlformats.org/drawingml/2006/main">
              <a:ext uri="{FF2B5EF4-FFF2-40B4-BE49-F238E27FC236}">
                <a16:creationId xmlns:a16="http://schemas.microsoft.com/office/drawing/2014/main" id="{F9545484-41A9-4FDA-880C-1B37B9E75F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8">
            <a:extLst xmlns:a="http://schemas.openxmlformats.org/drawingml/2006/main">
              <a:ext uri="{FF2B5EF4-FFF2-40B4-BE49-F238E27FC236}">
                <a16:creationId xmlns:a16="http://schemas.microsoft.com/office/drawing/2014/main" id="{498FB953-74E2-4392-872F-E4C477D060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9">
            <a:extLst xmlns:a="http://schemas.openxmlformats.org/drawingml/2006/main">
              <a:ext uri="{FF2B5EF4-FFF2-40B4-BE49-F238E27FC236}">
                <a16:creationId xmlns:a16="http://schemas.microsoft.com/office/drawing/2014/main" id="{4720E0B0-C280-4DE9-8DD2-AC49550A8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9">
            <a:extLst xmlns:a="http://schemas.openxmlformats.org/drawingml/2006/main">
              <a:ext uri="{FF2B5EF4-FFF2-40B4-BE49-F238E27FC236}">
                <a16:creationId xmlns:a16="http://schemas.microsoft.com/office/drawing/2014/main" id="{DBA22DC3-CFF0-493B-8904-1D06E8CD20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9">
            <a:extLst xmlns:a="http://schemas.openxmlformats.org/drawingml/2006/main">
              <a:ext uri="{FF2B5EF4-FFF2-40B4-BE49-F238E27FC236}">
                <a16:creationId xmlns:a16="http://schemas.microsoft.com/office/drawing/2014/main" id="{1F1C38E5-95CA-4775-86CA-6F3AFAF23A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9">
            <a:extLst xmlns:a="http://schemas.openxmlformats.org/drawingml/2006/main">
              <a:ext uri="{FF2B5EF4-FFF2-40B4-BE49-F238E27FC236}">
                <a16:creationId xmlns:a16="http://schemas.microsoft.com/office/drawing/2014/main" id="{A24F5A0B-3EE6-4530-823D-6B802479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5A8109C3-EE92-4D9C-B399-7EAA6746E3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94C940C0-EE74-454B-9A8C-507D6CEA6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180BCE1C-3E14-4A7A-8D59-6C864F1F1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D27AB65A-F1FA-478D-82FF-4647268921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75D41641-7F6C-4CB2-B0E2-40EF0AAEB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F44A69EB-DEB1-46BA-A8C7-B6AE7BB28C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1E9F054B-B667-46C8-8B66-B0145F185E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11">
            <a:extLst xmlns:a="http://schemas.openxmlformats.org/drawingml/2006/main">
              <a:ext uri="{FF2B5EF4-FFF2-40B4-BE49-F238E27FC236}">
                <a16:creationId xmlns:a16="http://schemas.microsoft.com/office/drawing/2014/main" id="{F2D15225-B749-445B-BF1B-C0538DC72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1">
            <a:extLst xmlns:a="http://schemas.openxmlformats.org/drawingml/2006/main">
              <a:ext uri="{FF2B5EF4-FFF2-40B4-BE49-F238E27FC236}">
                <a16:creationId xmlns:a16="http://schemas.microsoft.com/office/drawing/2014/main" id="{372FBECD-D8E6-4186-A32E-9EF5E02E12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1">
            <a:extLst xmlns:a="http://schemas.openxmlformats.org/drawingml/2006/main">
              <a:ext uri="{FF2B5EF4-FFF2-40B4-BE49-F238E27FC236}">
                <a16:creationId xmlns:a16="http://schemas.microsoft.com/office/drawing/2014/main" id="{691DDC25-CD44-4599-B134-E1D1AD0CE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1">
            <a:extLst xmlns:a="http://schemas.openxmlformats.org/drawingml/2006/main">
              <a:ext uri="{FF2B5EF4-FFF2-40B4-BE49-F238E27FC236}">
                <a16:creationId xmlns:a16="http://schemas.microsoft.com/office/drawing/2014/main" id="{548C6830-6EDC-45B1-AA4D-A477B89E68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C4F0385A-F096-4F4C-8E3D-F4412C9014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12">
            <a:extLst xmlns:a="http://schemas.openxmlformats.org/drawingml/2006/main">
              <a:ext uri="{FF2B5EF4-FFF2-40B4-BE49-F238E27FC236}">
                <a16:creationId xmlns:a16="http://schemas.microsoft.com/office/drawing/2014/main" id="{7A34C45A-4988-4A3E-9B1C-EA9236AB4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12">
            <a:extLst xmlns:a="http://schemas.openxmlformats.org/drawingml/2006/main">
              <a:ext uri="{FF2B5EF4-FFF2-40B4-BE49-F238E27FC236}">
                <a16:creationId xmlns:a16="http://schemas.microsoft.com/office/drawing/2014/main" id="{A13BA05A-DA26-4362-B3B2-F6FE19DC6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12">
            <a:extLst xmlns:a="http://schemas.openxmlformats.org/drawingml/2006/main">
              <a:ext uri="{FF2B5EF4-FFF2-40B4-BE49-F238E27FC236}">
                <a16:creationId xmlns:a16="http://schemas.microsoft.com/office/drawing/2014/main" id="{ED302776-6D3E-49B2-BABC-E57194B1DC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2">
            <a:extLst xmlns:a="http://schemas.openxmlformats.org/drawingml/2006/main">
              <a:ext uri="{FF2B5EF4-FFF2-40B4-BE49-F238E27FC236}">
                <a16:creationId xmlns:a16="http://schemas.microsoft.com/office/drawing/2014/main" id="{77250C59-A957-4564-9E3A-1018EC94C9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2">
            <a:extLst xmlns:a="http://schemas.openxmlformats.org/drawingml/2006/main">
              <a:ext uri="{FF2B5EF4-FFF2-40B4-BE49-F238E27FC236}">
                <a16:creationId xmlns:a16="http://schemas.microsoft.com/office/drawing/2014/main" id="{A7E374AC-971B-4C37-BE55-85543238CAD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93369" y="2174875"/>
            <a:ext cx="5389033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2">
            <a:extLst xmlns:a="http://schemas.openxmlformats.org/drawingml/2006/main">
              <a:ext uri="{FF2B5EF4-FFF2-40B4-BE49-F238E27FC236}">
                <a16:creationId xmlns:a16="http://schemas.microsoft.com/office/drawing/2014/main" id="{DF7F737E-AD58-4F69-B8BE-9D57593301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2">
            <a:extLst xmlns:a="http://schemas.openxmlformats.org/drawingml/2006/main">
              <a:ext uri="{FF2B5EF4-FFF2-40B4-BE49-F238E27FC236}">
                <a16:creationId xmlns:a16="http://schemas.microsoft.com/office/drawing/2014/main" id="{81D47A82-94FD-4AB8-83C8-A2F769D210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BD219775-AFD1-44F6-BA3F-51C757B74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3">
            <a:extLst xmlns:a="http://schemas.openxmlformats.org/drawingml/2006/main">
              <a:ext uri="{FF2B5EF4-FFF2-40B4-BE49-F238E27FC236}">
                <a16:creationId xmlns:a16="http://schemas.microsoft.com/office/drawing/2014/main" id="{879252E8-8930-4601-9514-2529DBF25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F5793E14-B138-495E-97B7-2647603E78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8D8BACA5-039A-47D7-BC04-1702EA7BF5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7B23360F-7579-4523-AE78-D07EEFEEE5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50450F11-82E2-442B-B732-D263B87053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8AAD11CF-91A8-40A6-963C-5D4466C11E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040D392B-5E44-47B6-90CB-DA5AA8929F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2F8BC190-AE16-44DA-86AF-4CAD2356F9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789CBF46-F775-41D5-9AC2-92F0A38147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6733" y="273053"/>
            <a:ext cx="6815667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CA9B483C-FF5C-4771-9B73-D14D12B585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2741225E-2570-42C6-A628-B1BA47CA5F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DF9168F9-5647-4C94-9419-6A78519191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882896CF-39B6-44F8-800D-4B9E26AFD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D634740B-C155-43BA-8126-8400CAD79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06CD25FD-929A-4C93-9936-91F194B0D69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0C0F6C57-7643-4E75-9ED7-E5A66F8AFF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8E9DA514-5F50-4887-B5D5-FD43980EE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58A68B35-4A9D-4796-9683-692870EE8C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7E8816D3-A044-408E-A481-5CBA0A7AA4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43B7E46A-EFEB-42D8-89D1-C9A7EBAB4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CFB91A20-F16C-43EC-8C53-F2E1EF4301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580606" y="-1875631"/>
            <a:ext cx="5030788" cy="109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044AF363-DDAB-41EB-B0C4-783233CF6E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3DF78B3D-496E-494D-B0D4-ADF35144A8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505A89EE-5D41-4189-AB79-71F053DCE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DB9C7223-0DE1-42DB-AB8A-128221784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85038" y="1828804"/>
            <a:ext cx="58515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A9A71F64-79D2-40E0-B8BC-A084FA52C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97038" y="-812796"/>
            <a:ext cx="5851525" cy="80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6DB0D1B-AECB-4894-BF37-A1CB7B1F8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525BA84-DB92-446D-B6D4-94356BF54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6F11FEFA-6277-49DE-9145-B069BDEBED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5244727644864" /><Relationship Type="http://schemas.openxmlformats.org/officeDocument/2006/relationships/slideLayout" Target="/ppt/slideLayouts/slideLayout1.xml" Id="R858e3bdf34a34919" /><Relationship Type="http://schemas.openxmlformats.org/officeDocument/2006/relationships/slideLayout" Target="/ppt/slideLayouts/slideLayout2.xml" Id="R859a61a1852d43c9" /><Relationship Type="http://schemas.openxmlformats.org/officeDocument/2006/relationships/slideLayout" Target="/ppt/slideLayouts/slideLayout3.xml" Id="Raa1ee6efecbd471f" /><Relationship Type="http://schemas.openxmlformats.org/officeDocument/2006/relationships/slideLayout" Target="/ppt/slideLayouts/slideLayout4.xml" Id="R7d279e5e20b8408c" /><Relationship Type="http://schemas.openxmlformats.org/officeDocument/2006/relationships/slideLayout" Target="/ppt/slideLayouts/slideLayout5.xml" Id="R9da4b73a74c1464d" /><Relationship Type="http://schemas.openxmlformats.org/officeDocument/2006/relationships/slideLayout" Target="/ppt/slideLayouts/slideLayout6.xml" Id="Rd5f6438d21384ff7" /><Relationship Type="http://schemas.openxmlformats.org/officeDocument/2006/relationships/slideLayout" Target="/ppt/slideLayouts/slideLayout7.xml" Id="R0b762e90cb0e42e0" /><Relationship Type="http://schemas.openxmlformats.org/officeDocument/2006/relationships/slideLayout" Target="/ppt/slideLayouts/slideLayout8.xml" Id="R16121bbc48174f59" /><Relationship Type="http://schemas.openxmlformats.org/officeDocument/2006/relationships/slideLayout" Target="/ppt/slideLayouts/slideLayout9.xml" Id="R6cc5f7ca298045f9" /><Relationship Type="http://schemas.openxmlformats.org/officeDocument/2006/relationships/slideLayout" Target="/ppt/slideLayouts/slideLayout10.xml" Id="R3edd973505ec4a40" /><Relationship Type="http://schemas.openxmlformats.org/officeDocument/2006/relationships/slideLayout" Target="/ppt/slideLayouts/slideLayout11.xml" Id="R43fc158518d14e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7">
            <a:extLst xmlns:a="http://schemas.openxmlformats.org/drawingml/2006/main">
              <a:ext uri="{FF2B5EF4-FFF2-40B4-BE49-F238E27FC236}">
                <a16:creationId xmlns:a16="http://schemas.microsoft.com/office/drawing/2014/main" id="{96AF12C7-B2B9-4232-90CE-754603433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6pPr>
            <a:lvl7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7pPr>
            <a:lvl8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8pPr>
            <a:lvl9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7">
            <a:extLst xmlns:a="http://schemas.openxmlformats.org/drawingml/2006/main">
              <a:ext uri="{FF2B5EF4-FFF2-40B4-BE49-F238E27FC236}">
                <a16:creationId xmlns:a16="http://schemas.microsoft.com/office/drawing/2014/main" id="{85EDD188-D9D1-41B1-B940-070D13875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7">
            <a:extLst xmlns:a="http://schemas.openxmlformats.org/drawingml/2006/main">
              <a:ext uri="{FF2B5EF4-FFF2-40B4-BE49-F238E27FC236}">
                <a16:creationId xmlns:a16="http://schemas.microsoft.com/office/drawing/2014/main" id="{9D8699E3-4C43-4773-A48D-6CE4E58CF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7">
            <a:extLst xmlns:a="http://schemas.openxmlformats.org/drawingml/2006/main">
              <a:ext uri="{FF2B5EF4-FFF2-40B4-BE49-F238E27FC236}">
                <a16:creationId xmlns:a16="http://schemas.microsoft.com/office/drawing/2014/main" id="{57C4C4B1-9CC6-4C73-935F-A85FC3FC05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Oswald"/>
                <a:ea typeface="Oswald"/>
                <a:cs typeface="Oswa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7">
            <a:extLst xmlns:a="http://schemas.openxmlformats.org/drawingml/2006/main">
              <a:ext uri="{FF2B5EF4-FFF2-40B4-BE49-F238E27FC236}">
                <a16:creationId xmlns:a16="http://schemas.microsoft.com/office/drawing/2014/main" id="{8F64BFE0-E0E7-4AB7-8AA2-61C8BCBA8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e3bdf34a34919"/>
    <p:sldLayoutId xmlns:r="http://schemas.openxmlformats.org/officeDocument/2006/relationships" id="2147483650" r:id="R859a61a1852d43c9"/>
    <p:sldLayoutId xmlns:r="http://schemas.openxmlformats.org/officeDocument/2006/relationships" id="2147483651" r:id="Raa1ee6efecbd471f"/>
    <p:sldLayoutId xmlns:r="http://schemas.openxmlformats.org/officeDocument/2006/relationships" id="2147483652" r:id="R7d279e5e20b8408c"/>
    <p:sldLayoutId xmlns:r="http://schemas.openxmlformats.org/officeDocument/2006/relationships" id="2147483653" r:id="R9da4b73a74c1464d"/>
    <p:sldLayoutId xmlns:r="http://schemas.openxmlformats.org/officeDocument/2006/relationships" id="2147483654" r:id="Rd5f6438d21384ff7"/>
    <p:sldLayoutId xmlns:r="http://schemas.openxmlformats.org/officeDocument/2006/relationships" id="2147483655" r:id="R0b762e90cb0e42e0"/>
    <p:sldLayoutId xmlns:r="http://schemas.openxmlformats.org/officeDocument/2006/relationships" id="2147483656" r:id="R16121bbc48174f59"/>
    <p:sldLayoutId xmlns:r="http://schemas.openxmlformats.org/officeDocument/2006/relationships" id="2147483657" r:id="R6cc5f7ca298045f9"/>
    <p:sldLayoutId xmlns:r="http://schemas.openxmlformats.org/officeDocument/2006/relationships" id="2147483658" r:id="R3edd973505ec4a40"/>
    <p:sldLayoutId xmlns:r="http://schemas.openxmlformats.org/officeDocument/2006/relationships" id="2147483659" r:id="R43fc158518d14e6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438643c04ca2" /><Relationship Type="http://schemas.openxmlformats.org/officeDocument/2006/relationships/image" Target="/ppt/media/image.png" Id="R8bfbead4c3894df6" /><Relationship Type="http://schemas.openxmlformats.org/officeDocument/2006/relationships/image" Target="/ppt/media/image2.png" Id="R4daee854cf794f0d" /><Relationship Type="http://schemas.openxmlformats.org/officeDocument/2006/relationships/notesSlide" Target="/ppt/notesSlides/notesSlide1.xml" Id="R23680ba677d2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7b04d0cba497a" /><Relationship Type="http://schemas.openxmlformats.org/officeDocument/2006/relationships/image" Target="/ppt/media/image2.png" Id="R441265ad43c14500" /><Relationship Type="http://schemas.openxmlformats.org/officeDocument/2006/relationships/notesSlide" Target="/ppt/notesSlides/notesSlide2.xml" Id="R486745b37c004c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ac53bdd8742d7" /><Relationship Type="http://schemas.openxmlformats.org/officeDocument/2006/relationships/image" Target="/ppt/media/image2.png" Id="R00354c5fa6244261" /><Relationship Type="http://schemas.openxmlformats.org/officeDocument/2006/relationships/notesSlide" Target="/ppt/notesSlides/notesSlide3.xml" Id="R536a5c6e15bb40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297a8aaf248da" /><Relationship Type="http://schemas.openxmlformats.org/officeDocument/2006/relationships/image" Target="/ppt/media/image2.png" Id="R443257219045481b" /><Relationship Type="http://schemas.openxmlformats.org/officeDocument/2006/relationships/notesSlide" Target="/ppt/notesSlides/notesSlide4.xml" Id="R1abf20fc6f60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69c8b356394f8f" /><Relationship Type="http://schemas.openxmlformats.org/officeDocument/2006/relationships/image" Target="/ppt/media/image2.png" Id="R67feb0e1338745fc" /><Relationship Type="http://schemas.openxmlformats.org/officeDocument/2006/relationships/notesSlide" Target="/ppt/notesSlides/notesSlide5.xml" Id="R7518d4cd99054b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b4688212a342ae" /><Relationship Type="http://schemas.openxmlformats.org/officeDocument/2006/relationships/image" Target="/ppt/media/image2.png" Id="R429c0ebad5df4f85" /><Relationship Type="http://schemas.openxmlformats.org/officeDocument/2006/relationships/notesSlide" Target="/ppt/notesSlides/notesSlide6.xml" Id="Ra8d76fda16824a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F34DBADC-0AD3-4B1B-A2C4-F3EFAF21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12B8B06F-0913-4EFD-BAEC-A28DBD5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rgbClr val="7F7F7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9" name="Google Shape;9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fbead4c3894df6">
            <a:alphaModFix/>
          </a:blip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25936FB4-0B21-4238-8E9A-D541A29CC8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715F98FE-FF7C-42CE-B62E-A9532CE7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700" cy="365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Problem Statement ID: 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SIH26099</a:t>
            </a:r>
            <a:endParaRPr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Problem Statement Title: 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AI-Driven Standardization and Harmonization of Material Codes Across CPSEs (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MoPNG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Theme: 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Smart Automation / Clean &amp; Green Technology</a:t>
            </a:r>
            <a:endParaRPr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PS Category: 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Software</a:t>
            </a:r>
            <a:endParaRPr/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Team ID: </a:t>
            </a:r>
            <a:r>
              <a:rPr sz="2000">
                <a:solidFill>
                  <a:schemeClr val="dk1"/>
                </a:solidFill>
              </a:rPr>
              <a:t>168042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Team Name: </a:t>
            </a:r>
            <a:r>
              <a:rPr sz="20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BharatCodex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Google Shape;93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aee854cf794f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1BE3963F-24E0-4A54-9785-FD5F9E6107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 xmlns:a="http://schemas.openxmlformats.org/drawingml/2006/main">
            <a:pPr marL="0" lvl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858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E8F1C4F1-99C0-4A2E-AA3D-223D8BBA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41E484CD-72FC-4372-BEA3-94A011075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Samanvay-AI: Cross-CPSE Material Harmonization</a:t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9228A16F-20A1-42CA-9C09-10F0CE04C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FD026FBD-6CA1-4354-9453-4749E9B1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9" name="Google Shape;104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1265ad43c145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55FE14F-7E45-4999-AE41-02790C53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7A699D-765B-404B-905F-DCFCB073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2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0"/>
                </a:solidFill>
                <a:latin typeface="Arial"/>
                <a:ea typeface="Arial"/>
                <a:cs typeface="Arial"/>
              </a:rPr>
              <a:t>Equivalent materials can be hard to compare when codes, descriptions and units differ.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72AB9B-4A70-4706-9F55-7713B527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32575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2383">
            <a:solidFill>
              <a:srgbClr val="B9CAD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B6FB30-8DA9-4BFB-9EA2-522E2C7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CPSE MATERIAL RECORDS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7F5893-02F2-45D8-9FB3-E513AF37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9557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399D76-AF24-4C18-B043-444AD940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95575"/>
            <a:ext cx="1590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C6E82"/>
                </a:solidFill>
                <a:latin typeface="Arial"/>
                <a:ea typeface="Arial"/>
                <a:cs typeface="Arial"/>
              </a:rPr>
              <a:t>Local identifier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20AF9F-0B4F-43B0-9612-712584C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76575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24AFC4-A680-4BAE-8ED0-A4D8ABB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0400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F3674E-C215-4619-99FA-931EDE5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590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C6E82"/>
                </a:solidFill>
                <a:latin typeface="Arial"/>
                <a:ea typeface="Arial"/>
                <a:cs typeface="Arial"/>
              </a:rPr>
              <a:t>Abbreviations and wording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B90B40-B9FC-4CB8-98CF-77B922CF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814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496713D-F2DD-43BF-87BD-1B3F225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0522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AA48AD-75B0-4752-A5AF-28DFAE2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05225"/>
            <a:ext cx="1590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C6E82"/>
                </a:solidFill>
                <a:latin typeface="Arial"/>
                <a:ea typeface="Arial"/>
                <a:cs typeface="Arial"/>
              </a:rPr>
              <a:t>Units and fields may vary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E7F6426-F4A7-4857-B75A-531DD51E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57525"/>
            <a:ext cx="4286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A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944D387-7C15-4E6A-B9B4-D6F34CA1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23850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123354"/>
          </a:solidFill>
          <a:ln xmlns:a="http://schemas.openxmlformats.org/drawingml/2006/main" w="9525">
            <a:solidFill>
              <a:srgbClr val="12335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8DA4C3F-929F-4D29-A1CF-6873350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SAMANVAY-AI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31406F3-E4C3-47A2-9703-942D614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 descriptions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Extract technical attributes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candidate records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8BA5B5-7880-4667-AF03-C28B63E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24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A8E5E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A8E5E8"/>
                </a:solidFill>
                <a:latin typeface="Arial"/>
                <a:ea typeface="Arial"/>
                <a:cs typeface="Arial"/>
              </a:rPr>
              <a:t>Type   ·   Size   ·   Class   ·   Material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2C74AD1-ECDC-4EAF-93DD-5F4E24C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57525"/>
            <a:ext cx="4286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A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01408A3-100A-4E1A-BED7-75AB5241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2575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4288">
            <a:solidFill>
              <a:srgbClr val="078A9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9CD3DC-433B-4E0A-A8FC-4C89E85F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REVIEWABLE CANDIDATES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565456C-7E5B-4558-B253-02E6261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800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Potential equivalents</a:t>
            </a:r>
          </a:p>
          <a:p xmlns:a="http://schemas.openxmlformats.org/drawingml/2006/main">
            <a:pPr algn="l">
              <a:defRPr sz="142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Technical comparison</a:t>
            </a:r>
          </a:p>
          <a:p xmlns:a="http://schemas.openxmlformats.org/drawingml/2006/main">
            <a:pPr algn="l">
              <a:defRPr sz="142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Review and audit trail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1989886-5EA1-46FB-B5FA-043FB07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Each source code remains visible in the prototype.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85C027-0C18-4971-A106-AC2D097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277600" cy="1076325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3EA909-61F9-4D99-A046-2D44F1A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CURRENT PROTOTYPE SCOPE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C001FC0-E464-4912-AD75-D0E2DC7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Find and assess candidate equivalents for review.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2B84210-55A6-473A-8587-8A8E285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Common national-code assignment, legacy-code mapping and live ERP integration are future work.</a:t>
            </a:r>
          </a:p>
        </p:txBody>
      </p:sp>
    </p:spTree>
    <p:extLst>
      <p:ext uri="{BB962C8B-B14F-4D97-AF65-F5344CB8AC3E}">
        <p14:creationId xmlns:p14="http://schemas.microsoft.com/office/powerpoint/2010/main" val="2703794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2D380256-1786-4DA6-AAE6-347217F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526E4B7E-0C50-46EB-9441-E8F230ED6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  <a:endParaRPr/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DE9CA3A6-D6AB-4D2A-97EB-E1147835E4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C12438FD-F658-4FD3-8842-1CE2B5B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2" name="Google Shape;11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354c5fa62442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0044E77-59C9-436A-87EC-05A8D040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192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END-TO-END TECHNICAL WORKFLOW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DB47DAD-7ACB-4785-B4FA-71701F9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95425"/>
            <a:ext cx="1135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40"/>
                </a:solidFill>
                <a:latin typeface="Arial"/>
                <a:ea typeface="Arial"/>
                <a:cs typeface="Arial"/>
              </a:rPr>
              <a:t>Web request → validated API → candidate scoring → engineering review → controlled requisition.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81E707D-D7EF-4C9B-8E77-9A021AF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11334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DA846CC-F7DA-4E67-AB15-D136B3EA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A07CD3-77E3-4F3E-AA8C-C8A2F83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716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Next.js 16 / React 19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93E19A7-9EE0-40BD-986E-800D9226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716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FastAPI / Python / Pydantic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A99E164-0BC4-4636-A6DE-98B464C2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PostgreSQL 16 / SQLAlchemy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25F4989-A55B-49BE-B3E1-89478133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716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Neo4j 5.20 · Qdrant provisioned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4108D6E-3132-4F04-9B17-0EF1AFE4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05075"/>
            <a:ext cx="20574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DA01A6F-3D5A-4E5E-86A4-B9F0B03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19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1  REQUEST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CFE1C92-765A-4215-8A66-7303BCD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00375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Portal search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CSV / Excel catalog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PDF / MTC upload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6C6F683-DC8B-4E37-8CE0-F9E3F9F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8845097-31C3-4599-84A9-09325FD9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05075"/>
            <a:ext cx="20574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D9E6A16-FB9A-4955-B70E-4C54E6A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19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2  API GATE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1989EA-0E19-4828-8893-193A362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0375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REST: /match · /ingest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Pydantic validation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Auth + CPSE scope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11BBB4D-22A9-4C3A-85D0-BFA12367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A35DF2-8C8B-4F92-A8D4-6A9F4510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05075"/>
            <a:ext cx="20574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5BB6D59-7B49-40B8-8985-D68399D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19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3  FIND ITEMS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D9D823B-4C6A-4F12-96AD-D484481A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Normalize text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SQL catalog filters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Up to 50 candidates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2FBEE16-2F9B-4FC2-9CA2-49EA55D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DCA1228-54A7-4100-9DFA-E21F08C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05075"/>
            <a:ext cx="20574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123354"/>
          </a:solidFill>
          <a:ln xmlns:a="http://schemas.openxmlformats.org/drawingml/2006/main" w="12859">
            <a:solidFill>
              <a:srgbClr val="123354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8B62CDC-B887-4972-A751-6306A8C3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ASSESS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548167A-DD37-4326-8482-512123C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rule modules</a:t>
            </a:r>
          </a:p>
          <a:p xmlns:a="http://schemas.openxmlformats.org/drawingml/2006/main">
            <a:pPr algn="ctr"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70% rules + 30% ranker</a:t>
            </a:r>
          </a:p>
          <a:p xmlns:a="http://schemas.openxmlformats.org/drawingml/2006/main">
            <a:pPr algn="ctr">
              <a:defRPr sz="11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 failure → Tier 3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EF56DDD-E144-460F-A2E6-36B19C5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242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291003E-7625-4E6D-BD21-22B8FEB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05075"/>
            <a:ext cx="20574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DF6F0"/>
          </a:solidFill>
          <a:ln xmlns:a="http://schemas.openxmlformats.org/drawingml/2006/main" w="12859">
            <a:solidFill>
              <a:srgbClr val="2F8B59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148D068-DF6E-4808-A64A-2647713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9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5  ACT WITH REVIEW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48550EE-835D-413C-B7FC-7CC9B05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0375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Explainable result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Human decision</a:t>
            </a:r>
          </a:p>
          <a:p xmlns:a="http://schemas.openxmlformats.org/drawingml/2006/main">
            <a:pPr algn="ctr">
              <a:defRPr sz="116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Requisition + audit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385AA42-226C-40E7-ABEE-6B34B65F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BACKEND DETAILS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19E368E-F8C5-44EE-A905-1B39773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365760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F8F421E-0372-43A0-85BA-6821F9F0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DATA + TRANSACTIONS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E0E9715-BE9C-4091-97D4-17CFBCFD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SQLAlchemy services persist inventory, requisitions and audit records in PostgreSQL. Row locks protect stock allocation.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1AB3365-0624-42E0-AD81-A77F70E5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67225"/>
            <a:ext cx="365760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0B8CB29-51EF-4707-AE1E-04B3A1DC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62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DOCUMENTS + ENGINEERING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959D94B-3DED-40B8-B49B-0A919893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PyMuPDF/OCR extracts text; MTC parsing captures chemistry. Incomplete or unreadable records are flagged for review.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F2455B3-F3DF-431C-BCFF-E5745454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67225"/>
            <a:ext cx="365760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EA0508B-89D1-4EB3-B5F6-0EB62117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62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FEDERATION + TRUST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3B99D5B-0222-429B-A7FD-6C58E3E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6727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Role and CPSE-scoped access; sensitive values filtered across tenants; PostgreSQL changes can sync to Neo4j; SHA-256 audit chain.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E257026-2F51-44B6-9C67-6C84868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150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5C6E82"/>
                </a:solidFill>
                <a:latin typeface="Arial"/>
                <a:ea typeface="Arial"/>
                <a:cs typeface="Arial"/>
              </a:rPr>
              <a:t>Current match path uses PostgreSQL filters; Qdrant is not active in search. Ranker uses a feature-weight fallback when model.xgb is absent.</a:t>
            </a:r>
          </a:p>
        </p:txBody>
      </p:sp>
    </p:spTree>
    <p:extLst>
      <p:ext uri="{BB962C8B-B14F-4D97-AF65-F5344CB8AC3E}">
        <p14:creationId xmlns:p14="http://schemas.microsoft.com/office/powerpoint/2010/main" val="586646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4">
            <a:extLst xmlns:a="http://schemas.openxmlformats.org/drawingml/2006/main">
              <a:ext uri="{FF2B5EF4-FFF2-40B4-BE49-F238E27FC236}">
                <a16:creationId xmlns:a16="http://schemas.microsoft.com/office/drawing/2014/main" id="{4A40FE41-8D59-45D2-AFFC-9F7F899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4">
            <a:extLst xmlns:a="http://schemas.openxmlformats.org/drawingml/2006/main">
              <a:ext uri="{FF2B5EF4-FFF2-40B4-BE49-F238E27FC236}">
                <a16:creationId xmlns:a16="http://schemas.microsoft.com/office/drawing/2014/main" id="{7B0E0355-B6E8-48EA-B872-0CFBE320B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36" name="Google Shape;136;p4">
            <a:extLst xmlns:a="http://schemas.openxmlformats.org/drawingml/2006/main">
              <a:ext uri="{FF2B5EF4-FFF2-40B4-BE49-F238E27FC236}">
                <a16:creationId xmlns:a16="http://schemas.microsoft.com/office/drawing/2014/main" id="{AD9C3560-C980-4CC6-B850-BF4F51D108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137" name="Google Shape;137;p4">
            <a:extLst xmlns:a="http://schemas.openxmlformats.org/drawingml/2006/main">
              <a:ext uri="{FF2B5EF4-FFF2-40B4-BE49-F238E27FC236}">
                <a16:creationId xmlns:a16="http://schemas.microsoft.com/office/drawing/2014/main" id="{4FE4EC27-1BDD-4081-AF2A-4BFDA83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4" name="Google Shape;138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325721904548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4EADC91-D7FE-4BD7-A976-A128C73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A CONTROLLED PATH FOR OIL INDIA LIMITED AND RELATED CPSES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A68E47D-0BA8-4167-9E13-6F9C42A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40"/>
                </a:solidFill>
                <a:latin typeface="Arial"/>
                <a:ea typeface="Arial"/>
                <a:cs typeface="Arial"/>
              </a:rPr>
              <a:t>Start with a bounded pilot; expand only when OIL’s engineering, security and procurement teams accept the evidence.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D0C0EDC-43EA-488B-9006-132F5087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429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8E40088-4088-420F-B44E-3585A58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1  FIT THE OPERATING CONTEXT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D260BB2-515A-4F9E-AD9C-4846538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12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Begin with an OIL unit/depot catalog export (CSV/XLSX). Normalize and search alongside current ERP; no live ERP write-back is required for the pilot.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D79B2BF-DF5B-43A3-9ABD-BC9AEFC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5429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354"/>
          </a:solidFill>
          <a:ln xmlns:a="http://schemas.openxmlformats.org/drawingml/2006/main" w="12859">
            <a:solidFill>
              <a:srgbClr val="123354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6CB3D54-DC18-417E-8BF0-9147C2C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DEPLOY WITHIN APPROVED CONTROLS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384B826-F6A2-4424-9A71-3177A62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512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 includes a Docker Compose service blueprint. OIL/CPSE hosting, network, identity, cyber-security and data-retention approvals are required before operational use.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0D03DE0-03D6-4677-8807-454B6E12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429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A33E5C8-DED2-438D-8E3A-B8036539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3  RETAIN ENGINEERING AUTHORITY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349D213-7EDF-4EFC-8598-ED21A82E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12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System surfaces candidates and differences. OIL engineers validate technical equivalence; supplying CPSE retains stock-release authority. Human approval stays in the workflow.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5573813-1CC0-4F00-A25E-F6E23E5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5429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2859">
            <a:solidFill>
              <a:srgbClr val="078A98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4C26464-4D9F-408C-BE56-D7BAC4D1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4  PROVE VIABILITY BEFORE SCALE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E48B225-E946-43B5-AE2C-280144C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12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Use real, permissioned records and compare with today’s process. Expand only if match quality, review effort, data quality and governance meet agreed thresholds.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704A52E-A7FC-4AD2-9805-1AC4A52E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29200"/>
            <a:ext cx="111061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D89100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8ED6B4A-423E-4062-8D46-974D280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14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5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05600"/>
                </a:solidFill>
                <a:latin typeface="Arial"/>
                <a:ea typeface="Arial"/>
                <a:cs typeface="Arial"/>
              </a:rPr>
              <a:t>VIABILITY GATES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9D48C6E-FA74-42D6-B9CE-F936FF3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744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40"/>
                </a:solidFill>
                <a:latin typeface="Arial"/>
                <a:ea typeface="Arial"/>
                <a:cs typeface="Arial"/>
              </a:rPr>
              <a:t>Data access &amp; quality   →   Safety validation   →   Cyber / hosting approval   →   Workflow &amp; procurement sign-off</a:t>
            </a:r>
          </a:p>
        </p:txBody>
      </p:sp>
    </p:spTree>
    <p:extLst>
      <p:ext uri="{BB962C8B-B14F-4D97-AF65-F5344CB8AC3E}">
        <p14:creationId xmlns:p14="http://schemas.microsoft.com/office/powerpoint/2010/main" val="17351650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5">
            <a:extLst xmlns:a="http://schemas.openxmlformats.org/drawingml/2006/main">
              <a:ext uri="{FF2B5EF4-FFF2-40B4-BE49-F238E27FC236}">
                <a16:creationId xmlns:a16="http://schemas.microsoft.com/office/drawing/2014/main" id="{FCDECA6B-879A-4286-8261-CBEB5394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5">
            <a:extLst xmlns:a="http://schemas.openxmlformats.org/drawingml/2006/main">
              <a:ext uri="{FF2B5EF4-FFF2-40B4-BE49-F238E27FC236}">
                <a16:creationId xmlns:a16="http://schemas.microsoft.com/office/drawing/2014/main" id="{F22D42B3-8A75-4260-9F14-73FA2F8604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  <a:endParaRPr/>
          </a:p>
        </p:txBody>
      </p:sp>
      <p:sp>
        <p:nvSpPr>
          <p:cNvPr id="150" name="Google Shape;150;p5">
            <a:extLst xmlns:a="http://schemas.openxmlformats.org/drawingml/2006/main">
              <a:ext uri="{FF2B5EF4-FFF2-40B4-BE49-F238E27FC236}">
                <a16:creationId xmlns:a16="http://schemas.microsoft.com/office/drawing/2014/main" id="{311D4727-9C02-4772-A00C-622854347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151" name="Google Shape;151;p5">
            <a:extLst xmlns:a="http://schemas.openxmlformats.org/drawingml/2006/main">
              <a:ext uri="{FF2B5EF4-FFF2-40B4-BE49-F238E27FC236}">
                <a16:creationId xmlns:a16="http://schemas.microsoft.com/office/drawing/2014/main" id="{26F8A213-E7B1-40F5-AF2B-EAC9D42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9" name="Google Shape;15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eb0e1338745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2E03FFC-A359-42BC-A35F-D3953774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EXPECTED IMPACT FOR OIL AND PARTICIPATING CPSES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E10827E-0E73-4EB8-A8E6-EE6807C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0"/>
                </a:solidFill>
                <a:latin typeface="Arial"/>
                <a:ea typeface="Arial"/>
                <a:cs typeface="Arial"/>
              </a:rPr>
              <a:t>Connect a site’s material need to safer, more visible cross-enterprise options.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DCE80EB-04D8-4DFD-A7AD-3701D1E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352425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AD8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A403E12-C688-4DE6-A547-E51BFAA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D933E67-A60C-435A-95D4-154B2165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REQUESTING OIL SITE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3AA653A-A215-4F79-8050-4858B83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3181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Search across participating catalogs by normalized description and engineering attributes.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Benefit to validate: less time spent finding and screening potential stock options.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9D99729-63B7-47F8-852E-1550A04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352425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1906">
            <a:solidFill>
              <a:srgbClr val="B9CAD8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A979B26-2D43-4891-930F-A3277BD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0ED78C1-1095-4C0D-97F9-EF240FF2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SUPPLYING CPSE / DEPOT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A554541-7D58-4E9E-A143-36A3B70E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3181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Make eligible surplus or idle inventory discoverable while preserving source ownership, quantity controls and release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Benefit to validate: more opportunities to redeploy existing stock.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8CB8BA9-8AB6-45A5-9E0D-AEF55925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76450"/>
            <a:ext cx="352425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AD8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0FDF13D-1CFA-42D6-B5EC-72B9B34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764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75401A7-DDF2-461C-97F7-89C478D5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86000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8B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B59"/>
                </a:solidFill>
                <a:latin typeface="Arial"/>
                <a:ea typeface="Arial"/>
                <a:cs typeface="Arial"/>
              </a:rPr>
              <a:t>PROCUREMENT + OVERSIGHT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BAF3D32-D961-42FC-92AB-13FDD1CD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24150"/>
            <a:ext cx="3181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Show technical differences, approvals and an audit trail; expose only permitted cross-CPSE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4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Benefit to validate: clearer, more accountable decisions.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FC9651A-8AA4-4D85-A201-039802B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57700"/>
            <a:ext cx="111061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8F3F6"/>
          </a:solidFill>
          <a:ln xmlns:a="http://schemas.openxmlformats.org/drawingml/2006/main" w="10954">
            <a:solidFill>
              <a:srgbClr val="078A9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293907D-3933-4223-B24B-8BC71D5A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910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PILOT SCORECARD — COMPARE WITH OIL’S CURRENT BASELINE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E5BC747-7090-421D-BB2C-B1A7955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Time to shortlist   ·   engineer acceptance / rejection reasons   ·   approved cross-CPSE transfers</a:t>
            </a:r>
          </a:p>
          <a:p xmlns:a="http://schemas.openxmlformats.org/drawingml/2006/main">
            <a:pPr algn="ctr">
              <a:defRPr sz="1200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Verified duplicate purchases avoided   ·   stock-release cycle time   ·   inventory reused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EA30E56-A325-4691-A347-36DE012E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10" b="1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5C6E82"/>
                </a:solidFill>
                <a:latin typeface="Arial"/>
                <a:ea typeface="Arial"/>
                <a:cs typeface="Arial"/>
              </a:rPr>
              <a:t>Benefits are targets to measure with OIL; no savings, downtime or emissions result has yet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10193359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84B7DDAA-CFFA-40D7-AB4A-097FA00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6">
            <a:extLst xmlns:a="http://schemas.openxmlformats.org/drawingml/2006/main">
              <a:ext uri="{FF2B5EF4-FFF2-40B4-BE49-F238E27FC236}">
                <a16:creationId xmlns:a16="http://schemas.microsoft.com/office/drawing/2014/main" id="{37E2AB04-5A48-472A-9C4D-53C0E4252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FBD9092D-1CC5-43D2-A25D-3B267DA7F2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9F974230-6C16-4E75-AD89-1B64922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3" name="Google Shape;16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9c0ebad5df4f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61BD936-A77B-4CF2-A621-C2BA9323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PROTOTYPE EVIDENCE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C489DFF-00F2-4B5F-8CD6-F654F556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668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REFERENCES AND STANDARDS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B499C30-2551-40F4-8493-E9AACD9E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895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3E939BE-7645-41EB-9404-18C1FDA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402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generated catalog rows across seven CPSE labels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4399D69-8847-4A65-BA90-6496D54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1BE7687-6293-4184-B7F8-A3FAF3E5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895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5237F1-411B-4912-8275-DDA0A00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402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golden benchmark pairs in the repository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15B3216-B75E-4D27-8289-E902F23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DF40EDC-2777-49D1-B4CB-0E088C1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895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E7BA1DE-25A7-4E96-A267-FBD4E165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24200"/>
            <a:ext cx="402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generated MTC/OCR payloads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260A531-7E79-49BD-A503-2CECB39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7482E6A-C734-48A4-902C-BF217F0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895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DB5609E-0C8E-491F-815A-467AD05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848100"/>
            <a:ext cx="402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engineering rule modules documented and implemented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E8A19E7-4DA9-4F8E-A36A-A63C3577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06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E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E82"/>
                </a:solidFill>
                <a:latin typeface="Arial"/>
                <a:ea typeface="Arial"/>
                <a:cs typeface="Arial"/>
              </a:rPr>
              <a:t>Dataset values are synthetic. Benchmark count is not accuracy.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26F36A7-8D1D-4E80-90CB-BC95CCF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28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SIH 2026 · Problem Statement 26099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B934683-FD27-4FAB-8EA1-19B31C9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86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AI-driven standardization and harmonization of material codes across CPSEs.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993AB1A-B248-4543-8AB0-150AC2B9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28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Government of India · Department of Expenditure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BEFDD73-C344-43C9-ACA0-596C772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5286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General Financial Rules 2017, updated 31 July 2025. Rule 161 covers advertised tender enquiry; its conditions depend on procurement route and value.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0EBAABE-E457-4F82-9833-542B7C4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528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A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8A98"/>
                </a:solidFill>
                <a:latin typeface="Arial"/>
                <a:ea typeface="Arial"/>
                <a:cs typeface="Arial"/>
              </a:rPr>
              <a:t>Engineering standards named in project rules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069786B-945C-4EE7-B8A1-1294243D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286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ASME B16.5 / B16.34 · ASTM material checks · NACE MR0175 / ISO 15156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FE926B2-7646-4FE8-97E8-FD65C51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12014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B9CAD8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ADC2159-AEF1-4AAA-812C-9D3E30D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335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23354"/>
                </a:solidFill>
                <a:latin typeface="Arial"/>
                <a:ea typeface="Arial"/>
                <a:cs typeface="Arial"/>
              </a:rPr>
              <a:t>Prototype scope: discovery and review. Common-code assignment, migration and live ERP integration are next steps.</a:t>
            </a:r>
          </a:p>
        </p:txBody>
      </p:sp>
    </p:spTree>
    <p:extLst>
      <p:ext uri="{BB962C8B-B14F-4D97-AF65-F5344CB8AC3E}">
        <p14:creationId xmlns:p14="http://schemas.microsoft.com/office/powerpoint/2010/main" val="3173502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2026-09-28T18:49:52.3180000Z</dcterms:created>
  <dcterms:modified xsi:type="dcterms:W3CDTF">2026-09-28T18:49:52.3180000Z</dcterms:modified>
</coreProperties>
</file>