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DF18680-E054-41AD-8BC1-D1AEF772440D}" styleName="Medium Style 2 –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7" d="100"/>
          <a:sy n="107" d="100"/>
        </p:scale>
        <p:origin x="714" y="114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9/12/2026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9/12/2026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9/12/2026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9/12/2026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9/12/2026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9/12/2026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9/12/2026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36522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>
              <a:spcAft>
                <a:spcPts val="800"/>
              </a:spcAft>
            </a:pPr>
            <a:r>
              <a:rPr sz="2000" b="1" dirty="0">
                <a:latin typeface="Arial"/>
              </a:rPr>
              <a:t>Problem Statement ID: </a:t>
            </a:r>
            <a:r>
              <a:rPr sz="2000" b="0" dirty="0">
                <a:latin typeface="Arial"/>
              </a:rPr>
              <a:t>SIH26099</a:t>
            </a:r>
          </a:p>
          <a:p>
            <a:pPr>
              <a:spcAft>
                <a:spcPts val="800"/>
              </a:spcAft>
            </a:pPr>
            <a:r>
              <a:rPr sz="2000" b="1" dirty="0">
                <a:latin typeface="Arial"/>
              </a:rPr>
              <a:t>Problem Statement Title: </a:t>
            </a:r>
            <a:r>
              <a:rPr sz="2000" b="0" dirty="0">
                <a:latin typeface="Arial"/>
              </a:rPr>
              <a:t>AI-Driven Standardization and Harmonization of Material Codes Across CPSEs (</a:t>
            </a:r>
            <a:r>
              <a:rPr sz="2000" b="0" dirty="0" err="1">
                <a:latin typeface="Arial"/>
              </a:rPr>
              <a:t>MoPNG</a:t>
            </a:r>
            <a:r>
              <a:rPr sz="2000" b="0" dirty="0">
                <a:latin typeface="Arial"/>
              </a:rPr>
              <a:t>)</a:t>
            </a:r>
          </a:p>
          <a:p>
            <a:pPr>
              <a:spcAft>
                <a:spcPts val="800"/>
              </a:spcAft>
            </a:pPr>
            <a:r>
              <a:rPr sz="2000" b="1" dirty="0">
                <a:latin typeface="Arial"/>
              </a:rPr>
              <a:t>Theme: </a:t>
            </a:r>
            <a:r>
              <a:rPr sz="2000" b="0" dirty="0">
                <a:latin typeface="Arial"/>
              </a:rPr>
              <a:t>Smart Automation / Clean &amp; Green Technology</a:t>
            </a:r>
          </a:p>
          <a:p>
            <a:pPr>
              <a:spcAft>
                <a:spcPts val="800"/>
              </a:spcAft>
            </a:pPr>
            <a:r>
              <a:rPr sz="2000" b="1" dirty="0">
                <a:latin typeface="Arial"/>
              </a:rPr>
              <a:t>PS Category: </a:t>
            </a:r>
            <a:r>
              <a:rPr sz="2000" b="0" dirty="0">
                <a:latin typeface="Arial"/>
              </a:rPr>
              <a:t>Software</a:t>
            </a:r>
          </a:p>
          <a:p>
            <a:pPr>
              <a:spcAft>
                <a:spcPts val="800"/>
              </a:spcAft>
            </a:pPr>
            <a:r>
              <a:rPr sz="2000" b="1" dirty="0">
                <a:latin typeface="Arial"/>
              </a:rPr>
              <a:t>Team ID: </a:t>
            </a:r>
            <a:r>
              <a:rPr lang="en-US" sz="2000" b="0" dirty="0">
                <a:latin typeface="Arial"/>
              </a:rPr>
              <a:t>#81</a:t>
            </a:r>
            <a:endParaRPr sz="2000" b="0" dirty="0">
              <a:latin typeface="Arial"/>
            </a:endParaRPr>
          </a:p>
          <a:p>
            <a:pPr>
              <a:spcAft>
                <a:spcPts val="800"/>
              </a:spcAft>
            </a:pPr>
            <a:r>
              <a:rPr sz="2000" b="1" dirty="0">
                <a:latin typeface="Arial"/>
              </a:rPr>
              <a:t>Team Name: </a:t>
            </a:r>
            <a:r>
              <a:rPr sz="2000" b="0" dirty="0" err="1">
                <a:latin typeface="Arial"/>
              </a:rPr>
              <a:t>BharatCodex</a:t>
            </a:r>
            <a:endParaRPr sz="2000" b="0" dirty="0">
              <a:latin typeface="Arial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6" name="Subtitle 5">
            <a:extLst>
              <a:ext uri="{FF2B5EF4-FFF2-40B4-BE49-F238E27FC236}">
                <a16:creationId xmlns:a16="http://schemas.microsoft.com/office/drawing/2014/main" id="{F2D5D65E-F62B-C0D0-C9DC-80511027C54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  <a:p>
            <a:endParaRPr lang="en-IN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r>
              <a:rPr sz="2400" b="1" dirty="0" err="1">
                <a:latin typeface="Times New Roman"/>
              </a:rPr>
              <a:t>Samanvay</a:t>
            </a:r>
            <a:r>
              <a:rPr sz="2400" b="1" dirty="0">
                <a:latin typeface="Times New Roman"/>
              </a:rPr>
              <a:t>-AI: Cross-CPSE Material Harmonization Engine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BharatCodex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B239E18-22B0-48B3-D508-F56B97199F3A}"/>
              </a:ext>
            </a:extLst>
          </p:cNvPr>
          <p:cNvSpPr txBox="1"/>
          <p:nvPr/>
        </p:nvSpPr>
        <p:spPr>
          <a:xfrm>
            <a:off x="404640" y="1439199"/>
            <a:ext cx="3632219" cy="31239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Aft>
                <a:spcPts val="1000"/>
              </a:spcAft>
            </a:pPr>
            <a:r>
              <a:rPr sz="1600" b="1" dirty="0">
                <a:latin typeface="Arial"/>
              </a:rPr>
              <a:t>Detailed Explanation</a:t>
            </a:r>
          </a:p>
          <a:p>
            <a:pPr algn="just">
              <a:spcAft>
                <a:spcPts val="1000"/>
              </a:spcAft>
            </a:pPr>
            <a:r>
              <a:rPr sz="1300" b="0" dirty="0">
                <a:latin typeface="Arial"/>
              </a:rPr>
              <a:t>• </a:t>
            </a:r>
            <a:r>
              <a:rPr sz="1300" b="1" dirty="0">
                <a:latin typeface="Arial"/>
              </a:rPr>
              <a:t>Unified Material Translator: </a:t>
            </a:r>
            <a:r>
              <a:rPr sz="1300" b="0" dirty="0">
                <a:latin typeface="Arial"/>
              </a:rPr>
              <a:t>Connects different item codes across IOCL, ONGC, and BPCL into one shared, standard catalog without altering existing ERP systems.</a:t>
            </a:r>
          </a:p>
          <a:p>
            <a:pPr algn="just">
              <a:spcAft>
                <a:spcPts val="1000"/>
              </a:spcAft>
            </a:pPr>
            <a:r>
              <a:rPr sz="1300" b="0" dirty="0">
                <a:latin typeface="Arial"/>
              </a:rPr>
              <a:t>• </a:t>
            </a:r>
            <a:r>
              <a:rPr sz="1300" b="1" dirty="0">
                <a:latin typeface="Arial"/>
              </a:rPr>
              <a:t>Smart Document Reading: </a:t>
            </a:r>
            <a:r>
              <a:rPr sz="1300" b="0" dirty="0">
                <a:latin typeface="Arial"/>
              </a:rPr>
              <a:t>Uses AI to automatically read and pull technical specifications from ERP dumps, scanned challans, and test certificates.</a:t>
            </a:r>
          </a:p>
          <a:p>
            <a:pPr algn="just">
              <a:spcAft>
                <a:spcPts val="1000"/>
              </a:spcAft>
            </a:pPr>
            <a:r>
              <a:rPr sz="1300" b="0" dirty="0">
                <a:latin typeface="Arial"/>
              </a:rPr>
              <a:t>• </a:t>
            </a:r>
            <a:r>
              <a:rPr sz="1300" b="1" dirty="0">
                <a:latin typeface="Arial"/>
              </a:rPr>
              <a:t>Safety-First Engineering Checks: </a:t>
            </a:r>
            <a:r>
              <a:rPr sz="1300" b="0" dirty="0">
                <a:latin typeface="Arial"/>
              </a:rPr>
              <a:t>Strictly verifies dimensions, pressure ratings, and steel grades so only 100% safe, compatible parts are recommended.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2F097F1-6262-74C5-8C15-651BF6A635C0}"/>
              </a:ext>
            </a:extLst>
          </p:cNvPr>
          <p:cNvSpPr txBox="1"/>
          <p:nvPr/>
        </p:nvSpPr>
        <p:spPr>
          <a:xfrm>
            <a:off x="4279890" y="1439199"/>
            <a:ext cx="3632219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Aft>
                <a:spcPts val="1000"/>
              </a:spcAft>
            </a:pPr>
            <a:r>
              <a:rPr sz="1600" b="1" dirty="0">
                <a:latin typeface="Arial"/>
              </a:rPr>
              <a:t>How It Addresses the Problem</a:t>
            </a:r>
          </a:p>
          <a:p>
            <a:pPr algn="just">
              <a:spcAft>
                <a:spcPts val="1000"/>
              </a:spcAft>
            </a:pPr>
            <a:r>
              <a:rPr sz="1300" b="0" dirty="0">
                <a:latin typeface="Arial"/>
              </a:rPr>
              <a:t>• </a:t>
            </a:r>
            <a:r>
              <a:rPr sz="1300" b="1" dirty="0">
                <a:latin typeface="Arial"/>
              </a:rPr>
              <a:t>Zero Disruption to Existing ERPs: </a:t>
            </a:r>
            <a:r>
              <a:rPr sz="1300" b="0" dirty="0">
                <a:latin typeface="Arial"/>
              </a:rPr>
              <a:t>Companies keep using their existing SAP/Oracle item </a:t>
            </a:r>
            <a:r>
              <a:rPr sz="1300" b="0">
                <a:latin typeface="Arial"/>
              </a:rPr>
              <a:t>codes</a:t>
            </a:r>
            <a:r>
              <a:rPr lang="en-US" sz="1300">
                <a:latin typeface="Arial"/>
              </a:rPr>
              <a:t>. </a:t>
            </a:r>
            <a:r>
              <a:rPr sz="1300" b="0">
                <a:latin typeface="Arial"/>
              </a:rPr>
              <a:t>Samanvay</a:t>
            </a:r>
            <a:r>
              <a:rPr sz="1300" b="0" dirty="0">
                <a:latin typeface="Arial"/>
              </a:rPr>
              <a:t>-AI acts as an external smart layer with zero database changes.</a:t>
            </a:r>
          </a:p>
          <a:p>
            <a:pPr algn="just">
              <a:spcAft>
                <a:spcPts val="1000"/>
              </a:spcAft>
            </a:pPr>
            <a:r>
              <a:rPr sz="1300" b="0" dirty="0">
                <a:latin typeface="Arial"/>
              </a:rPr>
              <a:t>• </a:t>
            </a:r>
            <a:r>
              <a:rPr sz="1300" b="1" dirty="0">
                <a:latin typeface="Arial"/>
              </a:rPr>
              <a:t>Share Idle Spares Across Plants: </a:t>
            </a:r>
            <a:r>
              <a:rPr sz="1300" b="0" dirty="0">
                <a:latin typeface="Arial"/>
              </a:rPr>
              <a:t>Instantly spots unused surplus sitting in sister depots (e.g., ONGC Hazira has spares IOCL Panipat needs), avoiding redundant buying.</a:t>
            </a:r>
          </a:p>
          <a:p>
            <a:pPr algn="just">
              <a:spcAft>
                <a:spcPts val="1000"/>
              </a:spcAft>
            </a:pPr>
            <a:r>
              <a:rPr sz="1300" b="0" dirty="0">
                <a:latin typeface="Arial"/>
              </a:rPr>
              <a:t>• </a:t>
            </a:r>
            <a:r>
              <a:rPr sz="1300" b="1" dirty="0">
                <a:latin typeface="Arial"/>
              </a:rPr>
              <a:t>Combined Bulk Buying on </a:t>
            </a:r>
            <a:r>
              <a:rPr sz="1300" b="1" dirty="0" err="1">
                <a:latin typeface="Arial"/>
              </a:rPr>
              <a:t>GeM</a:t>
            </a:r>
            <a:r>
              <a:rPr sz="1300" b="1" dirty="0">
                <a:latin typeface="Arial"/>
              </a:rPr>
              <a:t>: </a:t>
            </a:r>
            <a:r>
              <a:rPr sz="1300" b="0" dirty="0">
                <a:latin typeface="Arial"/>
              </a:rPr>
              <a:t>Combines common spare requirements across CPSEs to unlock high-volume bulk discounts on the Government e-Marketplace.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73A8F68-091C-8E02-1406-29C3ADAA8E82}"/>
              </a:ext>
            </a:extLst>
          </p:cNvPr>
          <p:cNvSpPr txBox="1"/>
          <p:nvPr/>
        </p:nvSpPr>
        <p:spPr>
          <a:xfrm>
            <a:off x="8155141" y="1439199"/>
            <a:ext cx="3632219" cy="31239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Aft>
                <a:spcPts val="1000"/>
              </a:spcAft>
            </a:pPr>
            <a:r>
              <a:rPr sz="1600" b="1" dirty="0">
                <a:latin typeface="Arial"/>
              </a:rPr>
              <a:t>Innovation &amp; Uniqueness</a:t>
            </a:r>
          </a:p>
          <a:p>
            <a:pPr algn="just">
              <a:spcAft>
                <a:spcPts val="1000"/>
              </a:spcAft>
            </a:pPr>
            <a:r>
              <a:rPr sz="1300" b="0" dirty="0">
                <a:latin typeface="Arial"/>
              </a:rPr>
              <a:t>• </a:t>
            </a:r>
            <a:r>
              <a:rPr sz="1300" b="1" dirty="0">
                <a:latin typeface="Arial"/>
              </a:rPr>
              <a:t>Instant Certificate Intake: </a:t>
            </a:r>
            <a:r>
              <a:rPr sz="1300" b="0" dirty="0">
                <a:latin typeface="Arial"/>
              </a:rPr>
              <a:t>Smart OCR automatically extracts technical specs directly from scanned Mill Test Certificates (MTCs) and delivery slips in seconds.</a:t>
            </a:r>
          </a:p>
          <a:p>
            <a:pPr algn="just">
              <a:spcAft>
                <a:spcPts val="1000"/>
              </a:spcAft>
            </a:pPr>
            <a:r>
              <a:rPr sz="1300" b="0" dirty="0">
                <a:latin typeface="Arial"/>
              </a:rPr>
              <a:t>• </a:t>
            </a:r>
            <a:r>
              <a:rPr sz="1300" b="1" dirty="0">
                <a:latin typeface="Arial"/>
              </a:rPr>
              <a:t>Pre-Purchase Radar: </a:t>
            </a:r>
            <a:r>
              <a:rPr sz="1300" b="0" dirty="0">
                <a:latin typeface="Arial"/>
              </a:rPr>
              <a:t>Alerts purchase officers if an identical spare is already lying idle at a nearby depot before placing a costly new order.</a:t>
            </a:r>
          </a:p>
          <a:p>
            <a:pPr algn="just">
              <a:spcAft>
                <a:spcPts val="1000"/>
              </a:spcAft>
            </a:pPr>
            <a:r>
              <a:rPr sz="1300" b="0" dirty="0">
                <a:latin typeface="Arial"/>
              </a:rPr>
              <a:t>• </a:t>
            </a:r>
            <a:r>
              <a:rPr sz="1300" b="1" dirty="0">
                <a:latin typeface="Arial"/>
              </a:rPr>
              <a:t>3-Tier Safety Rating: </a:t>
            </a:r>
            <a:r>
              <a:rPr sz="1300" b="0" dirty="0">
                <a:latin typeface="Arial"/>
              </a:rPr>
              <a:t>Categorizes every match into Tier-1 (Exact Match), Tier-2 (Safe Upgrade), or Tier-3 (Rejected/Unsafe) using strict engineering standards.</a:t>
            </a:r>
          </a:p>
        </p:txBody>
      </p:sp>
    </p:spTree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BharatCodex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F09F717-F570-E8E8-253E-3EF795D02E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9413759"/>
              </p:ext>
            </p:extLst>
          </p:nvPr>
        </p:nvGraphicFramePr>
        <p:xfrm>
          <a:off x="236603" y="2902856"/>
          <a:ext cx="5184054" cy="3447649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346627">
                  <a:extLst>
                    <a:ext uri="{9D8B030D-6E8A-4147-A177-3AD203B41FA5}">
                      <a16:colId xmlns:a16="http://schemas.microsoft.com/office/drawing/2014/main" val="3462056706"/>
                    </a:ext>
                  </a:extLst>
                </a:gridCol>
                <a:gridCol w="1873624">
                  <a:extLst>
                    <a:ext uri="{9D8B030D-6E8A-4147-A177-3AD203B41FA5}">
                      <a16:colId xmlns:a16="http://schemas.microsoft.com/office/drawing/2014/main" val="4132347978"/>
                    </a:ext>
                  </a:extLst>
                </a:gridCol>
                <a:gridCol w="1963803">
                  <a:extLst>
                    <a:ext uri="{9D8B030D-6E8A-4147-A177-3AD203B41FA5}">
                      <a16:colId xmlns:a16="http://schemas.microsoft.com/office/drawing/2014/main" val="3752152746"/>
                    </a:ext>
                  </a:extLst>
                </a:gridCol>
              </a:tblGrid>
              <a:tr h="396448">
                <a:tc>
                  <a:txBody>
                    <a:bodyPr/>
                    <a:lstStyle/>
                    <a:p>
                      <a:r>
                        <a:rPr sz="1100" b="1" dirty="0"/>
                        <a:t>Module</a:t>
                      </a:r>
                      <a:endParaRPr sz="1100" b="1" dirty="0">
                        <a:latin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/>
                        <a:t>Framework / Technology</a:t>
                      </a:r>
                      <a:endParaRPr sz="1100" b="1">
                        <a:latin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 dirty="0"/>
                        <a:t>Role &amp; Functionality</a:t>
                      </a:r>
                      <a:endParaRPr sz="1100" b="1" dirty="0">
                        <a:latin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8152691"/>
                  </a:ext>
                </a:extLst>
              </a:tr>
              <a:tr h="509719">
                <a:tc>
                  <a:txBody>
                    <a:bodyPr/>
                    <a:lstStyle/>
                    <a:p>
                      <a:r>
                        <a:rPr sz="1000" b="1"/>
                        <a:t>API &amp; Gateway</a:t>
                      </a:r>
                      <a:endParaRPr sz="1000" b="1">
                        <a:latin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 dirty="0" err="1"/>
                        <a:t>FastAPI</a:t>
                      </a:r>
                      <a:r>
                        <a:rPr sz="1000" b="0" dirty="0"/>
                        <a:t>, </a:t>
                      </a:r>
                      <a:r>
                        <a:rPr sz="1000" b="0" dirty="0" err="1"/>
                        <a:t>Pydantic</a:t>
                      </a:r>
                      <a:r>
                        <a:rPr sz="1000" b="0" dirty="0"/>
                        <a:t> v2, PostgreSQL</a:t>
                      </a:r>
                      <a:endParaRPr sz="1000" b="0" dirty="0">
                        <a:latin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Fast &amp; secure backend connection, data validation, and complete audit logging</a:t>
                      </a:r>
                      <a:endParaRPr sz="1000" b="0">
                        <a:latin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7851554"/>
                  </a:ext>
                </a:extLst>
              </a:tr>
              <a:tr h="509719">
                <a:tc>
                  <a:txBody>
                    <a:bodyPr/>
                    <a:lstStyle/>
                    <a:p>
                      <a:r>
                        <a:rPr sz="1000" b="1"/>
                        <a:t>AI &amp; Extraction</a:t>
                      </a:r>
                      <a:endParaRPr sz="1000" b="1">
                        <a:latin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 dirty="0" err="1"/>
                        <a:t>PaddleOCR</a:t>
                      </a:r>
                      <a:r>
                        <a:rPr lang="en-US" sz="1000" b="0" dirty="0"/>
                        <a:t>/</a:t>
                      </a:r>
                      <a:r>
                        <a:rPr sz="1000" b="0" dirty="0" err="1"/>
                        <a:t>PyMuPDF</a:t>
                      </a:r>
                      <a:r>
                        <a:rPr lang="en-US" sz="1000" b="0" dirty="0"/>
                        <a:t>/</a:t>
                      </a:r>
                      <a:r>
                        <a:rPr lang="en-US" sz="1000" b="0" dirty="0" err="1"/>
                        <a:t>PDFPlumber</a:t>
                      </a:r>
                      <a:r>
                        <a:rPr lang="en-US" sz="1000" b="0" dirty="0"/>
                        <a:t> or related</a:t>
                      </a:r>
                      <a:r>
                        <a:rPr sz="1000" b="0" dirty="0"/>
                        <a:t>, DeBERTa-v3, BGE-M3</a:t>
                      </a:r>
                      <a:endParaRPr sz="1000" b="0" dirty="0">
                        <a:latin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Reads scanned certificates, pulls key technical specs, and finds matches in &lt;15ms</a:t>
                      </a:r>
                      <a:endParaRPr sz="1000" b="0">
                        <a:latin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0955540"/>
                  </a:ext>
                </a:extLst>
              </a:tr>
              <a:tr h="651307">
                <a:tc>
                  <a:txBody>
                    <a:bodyPr/>
                    <a:lstStyle/>
                    <a:p>
                      <a:r>
                        <a:rPr sz="1000" b="1"/>
                        <a:t>Deterministic Core</a:t>
                      </a:r>
                      <a:endParaRPr sz="1000" b="1">
                        <a:latin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 dirty="0"/>
                        <a:t>Vectorized Python (Polars, NumPy)</a:t>
                      </a:r>
                      <a:endParaRPr sz="1000" b="0" dirty="0">
                        <a:latin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 dirty="0"/>
                        <a:t>Instant safety checks using strict engineering rules (ASME/ASTM) to prevent mismatches</a:t>
                      </a:r>
                      <a:endParaRPr sz="1000" b="0" dirty="0">
                        <a:latin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4973849"/>
                  </a:ext>
                </a:extLst>
              </a:tr>
              <a:tr h="651307">
                <a:tc>
                  <a:txBody>
                    <a:bodyPr/>
                    <a:lstStyle/>
                    <a:p>
                      <a:r>
                        <a:rPr sz="1000" b="1"/>
                        <a:t>Graph &amp; Vector DB</a:t>
                      </a:r>
                      <a:endParaRPr sz="1000" b="1">
                        <a:latin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 dirty="0"/>
                        <a:t>Neo4j (Knowledge Graph), </a:t>
                      </a:r>
                      <a:r>
                        <a:rPr sz="1000" b="0" dirty="0" err="1"/>
                        <a:t>Qdrant</a:t>
                      </a:r>
                      <a:endParaRPr sz="1000" b="0" dirty="0">
                        <a:latin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Links parts across all CPSE catalogs, maps to GeM/UNSPSC, and tracks spare locations</a:t>
                      </a:r>
                      <a:endParaRPr sz="1000" b="0">
                        <a:latin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9914750"/>
                  </a:ext>
                </a:extLst>
              </a:tr>
              <a:tr h="651307">
                <a:tc>
                  <a:txBody>
                    <a:bodyPr/>
                    <a:lstStyle/>
                    <a:p>
                      <a:r>
                        <a:rPr sz="1000" b="1"/>
                        <a:t>Client Portal</a:t>
                      </a:r>
                      <a:endParaRPr sz="1000" b="1">
                        <a:latin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 dirty="0"/>
                        <a:t>Next.js 16, React 19, Tailwind CSS, </a:t>
                      </a:r>
                      <a:r>
                        <a:rPr sz="1000" b="0" dirty="0" err="1"/>
                        <a:t>shadcn</a:t>
                      </a:r>
                      <a:r>
                        <a:rPr sz="1000" b="0" dirty="0"/>
                        <a:t>/</a:t>
                      </a:r>
                      <a:r>
                        <a:rPr sz="1000" b="0" dirty="0" err="1"/>
                        <a:t>ui</a:t>
                      </a:r>
                      <a:endParaRPr sz="1000" b="0" dirty="0">
                        <a:latin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 dirty="0"/>
                        <a:t>Easy web dashboard for batch catalog uploads, 1-click approvals, and savings analytics</a:t>
                      </a:r>
                      <a:endParaRPr sz="1000" b="0" dirty="0">
                        <a:latin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3095835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3C212B9A-4146-CE53-D48F-3D7EE257766B}"/>
              </a:ext>
            </a:extLst>
          </p:cNvPr>
          <p:cNvSpPr txBox="1"/>
          <p:nvPr/>
        </p:nvSpPr>
        <p:spPr>
          <a:xfrm>
            <a:off x="1414393" y="2521790"/>
            <a:ext cx="28284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Anticipated Tech Stack</a:t>
            </a:r>
            <a:endParaRPr lang="en-IN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CACE728-8D13-C781-ECBE-E89351B92C4B}"/>
              </a:ext>
            </a:extLst>
          </p:cNvPr>
          <p:cNvSpPr txBox="1"/>
          <p:nvPr/>
        </p:nvSpPr>
        <p:spPr>
          <a:xfrm>
            <a:off x="6096000" y="2742767"/>
            <a:ext cx="50669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Implementation Methodology &amp; Architecture</a:t>
            </a:r>
            <a:endParaRPr lang="en-IN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E048E56-50F7-13C7-78EF-1FB5E8D33003}"/>
              </a:ext>
            </a:extLst>
          </p:cNvPr>
          <p:cNvSpPr txBox="1"/>
          <p:nvPr/>
        </p:nvSpPr>
        <p:spPr>
          <a:xfrm>
            <a:off x="5504863" y="3085981"/>
            <a:ext cx="6465475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800"/>
              </a:spcAft>
            </a:pPr>
            <a:r>
              <a:rPr sz="1200" b="0" dirty="0">
                <a:latin typeface="Arial"/>
              </a:rPr>
              <a:t>• </a:t>
            </a:r>
            <a:r>
              <a:rPr sz="1200" b="1" dirty="0">
                <a:latin typeface="Arial"/>
              </a:rPr>
              <a:t>Modular &amp; Reliable Architecture: </a:t>
            </a:r>
            <a:r>
              <a:rPr sz="1200" b="0" dirty="0">
                <a:latin typeface="Arial"/>
              </a:rPr>
              <a:t>Clean separation between backend, AI models, and user interface ensures high performance and reliable operations.</a:t>
            </a:r>
          </a:p>
          <a:p>
            <a:pPr>
              <a:spcAft>
                <a:spcPts val="800"/>
              </a:spcAft>
            </a:pPr>
            <a:r>
              <a:rPr sz="1200" b="0" dirty="0">
                <a:latin typeface="Arial"/>
              </a:rPr>
              <a:t>• </a:t>
            </a:r>
            <a:r>
              <a:rPr sz="1200" b="1" dirty="0">
                <a:latin typeface="Arial"/>
              </a:rPr>
              <a:t>100% Private &amp; Sovereign Deployment: </a:t>
            </a:r>
            <a:r>
              <a:rPr sz="1200" b="0" dirty="0">
                <a:latin typeface="Arial"/>
              </a:rPr>
              <a:t>Runs entirely on secure government private cloud (NIC/RailTel) with zero external APIs—all sensitive data stays private.</a:t>
            </a:r>
          </a:p>
          <a:p>
            <a:pPr>
              <a:spcAft>
                <a:spcPts val="800"/>
              </a:spcAft>
            </a:pPr>
            <a:r>
              <a:rPr sz="1200" b="0" dirty="0">
                <a:latin typeface="Arial"/>
              </a:rPr>
              <a:t>• </a:t>
            </a:r>
            <a:r>
              <a:rPr sz="1200" b="1" dirty="0">
                <a:latin typeface="Arial"/>
              </a:rPr>
              <a:t>Human-in-the-Loop Review: </a:t>
            </a:r>
            <a:r>
              <a:rPr sz="1200" b="0" dirty="0">
                <a:latin typeface="Arial"/>
              </a:rPr>
              <a:t>Auto-approves clear matches (≥90%), while borderline cases (70%–90%) are shown side-by-side for quick 1-click human approval.</a:t>
            </a:r>
          </a:p>
          <a:p>
            <a:pPr>
              <a:spcAft>
                <a:spcPts val="800"/>
              </a:spcAft>
            </a:pPr>
            <a:r>
              <a:rPr sz="1200" b="0" dirty="0">
                <a:latin typeface="Arial"/>
              </a:rPr>
              <a:t>• </a:t>
            </a:r>
            <a:r>
              <a:rPr sz="1200" b="1" dirty="0">
                <a:latin typeface="Arial"/>
              </a:rPr>
              <a:t>Safe, Plug-and-Play Integration: </a:t>
            </a:r>
            <a:r>
              <a:rPr sz="1200" b="0" dirty="0">
                <a:latin typeface="Arial"/>
              </a:rPr>
              <a:t>Reads data securely from SAP MM / Oracle dumps without altering live transactional databases, guaranteeing zero operational risk.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F5B2739-A958-CCBC-0BDC-22965C0090E8}"/>
              </a:ext>
            </a:extLst>
          </p:cNvPr>
          <p:cNvSpPr txBox="1"/>
          <p:nvPr/>
        </p:nvSpPr>
        <p:spPr>
          <a:xfrm>
            <a:off x="329773" y="1095375"/>
            <a:ext cx="2515563" cy="15542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050" dirty="0">
                <a:latin typeface="Arial" panose="020B0604020202020204" pitchFamily="34" charset="0"/>
                <a:cs typeface="Arial" panose="020B0604020202020204" pitchFamily="34" charset="0"/>
              </a:rPr>
              <a:t>Stage 01: Smart Document Intake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IN" sz="1050" dirty="0">
                <a:latin typeface="Arial" panose="020B0604020202020204" pitchFamily="34" charset="0"/>
                <a:cs typeface="Arial" panose="020B0604020202020204" pitchFamily="34" charset="0"/>
              </a:rPr>
              <a:t>Dual-path parsing: Digital PDFs &amp; scanned certificates (MTCs).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IN" sz="1050" dirty="0" err="1">
                <a:latin typeface="Arial" panose="020B0604020202020204" pitchFamily="34" charset="0"/>
                <a:cs typeface="Arial" panose="020B0604020202020204" pitchFamily="34" charset="0"/>
              </a:rPr>
              <a:t>PaddleOCR</a:t>
            </a:r>
            <a:r>
              <a:rPr lang="en-IN" sz="1050" dirty="0"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en-IN" sz="1050" dirty="0" err="1">
                <a:latin typeface="Arial" panose="020B0604020202020204" pitchFamily="34" charset="0"/>
                <a:cs typeface="Arial" panose="020B0604020202020204" pitchFamily="34" charset="0"/>
              </a:rPr>
              <a:t>PyMuPDF</a:t>
            </a:r>
            <a:r>
              <a:rPr lang="en-IN" sz="1050" dirty="0"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en-IN" sz="1050" dirty="0" err="1">
                <a:latin typeface="Arial" panose="020B0604020202020204" pitchFamily="34" charset="0"/>
                <a:cs typeface="Arial" panose="020B0604020202020204" pitchFamily="34" charset="0"/>
              </a:rPr>
              <a:t>PDFPlumber</a:t>
            </a:r>
            <a:r>
              <a:rPr lang="en-IN" sz="1050" dirty="0">
                <a:latin typeface="Arial" panose="020B0604020202020204" pitchFamily="34" charset="0"/>
                <a:cs typeface="Arial" panose="020B0604020202020204" pitchFamily="34" charset="0"/>
              </a:rPr>
              <a:t>: Handles rotated &amp; blurry scans in &lt; 50 </a:t>
            </a:r>
            <a:r>
              <a:rPr lang="en-IN" sz="1050" dirty="0" err="1">
                <a:latin typeface="Arial" panose="020B0604020202020204" pitchFamily="34" charset="0"/>
                <a:cs typeface="Arial" panose="020B0604020202020204" pitchFamily="34" charset="0"/>
              </a:rPr>
              <a:t>ms</a:t>
            </a:r>
            <a:r>
              <a:rPr lang="en-IN" sz="105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IN" sz="1050" dirty="0">
                <a:latin typeface="Arial" panose="020B0604020202020204" pitchFamily="34" charset="0"/>
                <a:cs typeface="Arial" panose="020B0604020202020204" pitchFamily="34" charset="0"/>
              </a:rPr>
              <a:t>Text normalizer: Standardizes units, sizes, and messy enterprise dialects.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619818F-955B-ABE6-9496-FC2BF705396F}"/>
              </a:ext>
            </a:extLst>
          </p:cNvPr>
          <p:cNvSpPr txBox="1"/>
          <p:nvPr/>
        </p:nvSpPr>
        <p:spPr>
          <a:xfrm>
            <a:off x="3188084" y="1079254"/>
            <a:ext cx="251556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latin typeface="Arial" panose="020B0604020202020204" pitchFamily="34" charset="0"/>
                <a:cs typeface="Arial" panose="020B0604020202020204" pitchFamily="34" charset="0"/>
              </a:rPr>
              <a:t>Stage 02: AI Spec Extraction &amp; Search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1050" dirty="0">
                <a:latin typeface="Arial" panose="020B0604020202020204" pitchFamily="34" charset="0"/>
                <a:cs typeface="Arial" panose="020B0604020202020204" pitchFamily="34" charset="0"/>
              </a:rPr>
              <a:t>DeBERTa-v3 AI: Extracts Item Type, Size, Rating &amp; Metallurgy.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1050" dirty="0">
                <a:latin typeface="Arial" panose="020B0604020202020204" pitchFamily="34" charset="0"/>
                <a:cs typeface="Arial" panose="020B0604020202020204" pitchFamily="34" charset="0"/>
              </a:rPr>
              <a:t>BGE-M3 + </a:t>
            </a:r>
            <a:r>
              <a:rPr lang="en-US" sz="1050" dirty="0" err="1">
                <a:latin typeface="Arial" panose="020B0604020202020204" pitchFamily="34" charset="0"/>
                <a:cs typeface="Arial" panose="020B0604020202020204" pitchFamily="34" charset="0"/>
              </a:rPr>
              <a:t>Qdrant</a:t>
            </a:r>
            <a:r>
              <a:rPr lang="en-US" sz="1050" dirty="0">
                <a:latin typeface="Arial" panose="020B0604020202020204" pitchFamily="34" charset="0"/>
                <a:cs typeface="Arial" panose="020B0604020202020204" pitchFamily="34" charset="0"/>
              </a:rPr>
              <a:t>: Fast semantic vector search in &lt; 15 </a:t>
            </a:r>
            <a:r>
              <a:rPr lang="en-US" sz="1050" dirty="0" err="1">
                <a:latin typeface="Arial" panose="020B0604020202020204" pitchFamily="34" charset="0"/>
                <a:cs typeface="Arial" panose="020B0604020202020204" pitchFamily="34" charset="0"/>
              </a:rPr>
              <a:t>ms.</a:t>
            </a:r>
            <a:endParaRPr lang="en-US" sz="105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1050" dirty="0">
                <a:latin typeface="Arial" panose="020B0604020202020204" pitchFamily="34" charset="0"/>
                <a:cs typeface="Arial" panose="020B0604020202020204" pitchFamily="34" charset="0"/>
              </a:rPr>
              <a:t>Bridges dialects: Unifies abbreviations across IOCL, ONGC &amp; BPCL.</a:t>
            </a:r>
            <a:endParaRPr lang="en-IN" sz="10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6273E4F-68FE-DDD8-6E36-ADBF4F530F5E}"/>
              </a:ext>
            </a:extLst>
          </p:cNvPr>
          <p:cNvSpPr txBox="1"/>
          <p:nvPr/>
        </p:nvSpPr>
        <p:spPr>
          <a:xfrm>
            <a:off x="6046395" y="1087023"/>
            <a:ext cx="251556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latin typeface="Arial" panose="020B0604020202020204" pitchFamily="34" charset="0"/>
                <a:cs typeface="Arial" panose="020B0604020202020204" pitchFamily="34" charset="0"/>
              </a:rPr>
              <a:t> Stage 03: Engineering Safety Rules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1050" dirty="0">
                <a:latin typeface="Arial" panose="020B0604020202020204" pitchFamily="34" charset="0"/>
                <a:cs typeface="Arial" panose="020B0604020202020204" pitchFamily="34" charset="0"/>
              </a:rPr>
              <a:t>ASME / ASTM rules: Zero-tolerance size &amp; pressure rating checks.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1050" dirty="0">
                <a:latin typeface="Arial" panose="020B0604020202020204" pitchFamily="34" charset="0"/>
                <a:cs typeface="Arial" panose="020B0604020202020204" pitchFamily="34" charset="0"/>
              </a:rPr>
              <a:t>Prevents accidents: Overrides AI to block unsafe part mismatches.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1050" dirty="0">
                <a:latin typeface="Arial" panose="020B0604020202020204" pitchFamily="34" charset="0"/>
                <a:cs typeface="Arial" panose="020B0604020202020204" pitchFamily="34" charset="0"/>
              </a:rPr>
              <a:t>3-Tier safety tags: Tier-1 (Exact Match), Tier-2 (Upgrade), Tier-3 (Reject).</a:t>
            </a:r>
            <a:endParaRPr lang="en-IN" sz="10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11F2F96-1B1E-6E5F-F330-149A9651EAA9}"/>
              </a:ext>
            </a:extLst>
          </p:cNvPr>
          <p:cNvSpPr txBox="1"/>
          <p:nvPr/>
        </p:nvSpPr>
        <p:spPr>
          <a:xfrm>
            <a:off x="8841785" y="1059580"/>
            <a:ext cx="2673612" cy="15465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latin typeface="Arial" panose="020B0604020202020204" pitchFamily="34" charset="0"/>
                <a:cs typeface="Arial" panose="020B0604020202020204" pitchFamily="34" charset="0"/>
              </a:rPr>
              <a:t>Stage 04: Cross-CPSE Sharing &amp; Portal 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1050" dirty="0">
                <a:latin typeface="Arial" panose="020B0604020202020204" pitchFamily="34" charset="0"/>
                <a:cs typeface="Arial" panose="020B0604020202020204" pitchFamily="34" charset="0"/>
              </a:rPr>
              <a:t>Neo4j Knowledge Graph: Locates idle surplus spares at sister depots.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1050" dirty="0" err="1">
                <a:latin typeface="Arial" panose="020B0604020202020204" pitchFamily="34" charset="0"/>
                <a:cs typeface="Arial" panose="020B0604020202020204" pitchFamily="34" charset="0"/>
              </a:rPr>
              <a:t>GeM</a:t>
            </a:r>
            <a:r>
              <a:rPr lang="en-US" sz="1050" dirty="0">
                <a:latin typeface="Arial" panose="020B0604020202020204" pitchFamily="34" charset="0"/>
                <a:cs typeface="Arial" panose="020B0604020202020204" pitchFamily="34" charset="0"/>
              </a:rPr>
              <a:t> &amp; UNSPSC mapping: Aggregates demand across CPSEs for bulk volume savings.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1050" dirty="0">
                <a:latin typeface="Arial" panose="020B0604020202020204" pitchFamily="34" charset="0"/>
                <a:cs typeface="Arial" panose="020B0604020202020204" pitchFamily="34" charset="0"/>
              </a:rPr>
              <a:t>Next.js Web Dashboard: Real-time procurement analytics and 1-click approvals.</a:t>
            </a:r>
            <a:endParaRPr lang="en-IN" sz="10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C8F75503-0B78-7B7F-8268-3FA84292A280}"/>
              </a:ext>
            </a:extLst>
          </p:cNvPr>
          <p:cNvCxnSpPr>
            <a:stCxn id="7" idx="3"/>
          </p:cNvCxnSpPr>
          <p:nvPr/>
        </p:nvCxnSpPr>
        <p:spPr>
          <a:xfrm flipV="1">
            <a:off x="2845336" y="1818650"/>
            <a:ext cx="471605" cy="5386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8B80E306-C59A-C5DA-606E-B5C6578C6DF1}"/>
              </a:ext>
            </a:extLst>
          </p:cNvPr>
          <p:cNvCxnSpPr/>
          <p:nvPr/>
        </p:nvCxnSpPr>
        <p:spPr>
          <a:xfrm>
            <a:off x="5624395" y="1818650"/>
            <a:ext cx="47160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A5238313-1D92-9369-6744-6E7EAD2985A0}"/>
              </a:ext>
            </a:extLst>
          </p:cNvPr>
          <p:cNvCxnSpPr/>
          <p:nvPr/>
        </p:nvCxnSpPr>
        <p:spPr>
          <a:xfrm>
            <a:off x="8393688" y="1818650"/>
            <a:ext cx="47160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BharatCodex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6AEB155-E33F-7EEF-B612-1BB0172B4CD3}"/>
              </a:ext>
            </a:extLst>
          </p:cNvPr>
          <p:cNvSpPr txBox="1"/>
          <p:nvPr/>
        </p:nvSpPr>
        <p:spPr>
          <a:xfrm>
            <a:off x="404640" y="1439199"/>
            <a:ext cx="3632219" cy="8771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sz="1500" b="1" dirty="0">
                <a:latin typeface="Arial"/>
              </a:rPr>
              <a:t>Technical Scalability
</a:t>
            </a:r>
            <a:r>
              <a:rPr sz="1200" b="0" dirty="0">
                <a:latin typeface="Arial"/>
              </a:rPr>
              <a:t>Searches through </a:t>
            </a:r>
            <a:r>
              <a:rPr lang="en-US" sz="1200" b="0" dirty="0">
                <a:latin typeface="Arial"/>
              </a:rPr>
              <a:t>100,000 </a:t>
            </a:r>
            <a:r>
              <a:rPr sz="1200" b="0" dirty="0">
                <a:latin typeface="Arial"/>
              </a:rPr>
              <a:t>spare parts in under 15 milliseconds, handling large enterprise catalog uploads with instant safety checks.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DD4F02E-095C-4461-A3CE-3A1509B36CDD}"/>
              </a:ext>
            </a:extLst>
          </p:cNvPr>
          <p:cNvSpPr txBox="1"/>
          <p:nvPr/>
        </p:nvSpPr>
        <p:spPr>
          <a:xfrm>
            <a:off x="4279890" y="1439199"/>
            <a:ext cx="3632219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sz="1500" b="1" dirty="0">
                <a:latin typeface="Arial"/>
              </a:rPr>
              <a:t>Operational Ease
</a:t>
            </a:r>
            <a:r>
              <a:rPr sz="1200" b="0" dirty="0">
                <a:latin typeface="Arial"/>
              </a:rPr>
              <a:t>Reads both clear digital PDFs and blurry mobile scans; intuitive web dashboard requires zero special training for warehouse and plant staff.</a:t>
            </a:r>
            <a:endParaRPr lang="en-IN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2097F19-633B-C852-09A8-8A190522DEF6}"/>
              </a:ext>
            </a:extLst>
          </p:cNvPr>
          <p:cNvSpPr txBox="1"/>
          <p:nvPr/>
        </p:nvSpPr>
        <p:spPr>
          <a:xfrm>
            <a:off x="8155141" y="1439199"/>
            <a:ext cx="3632219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500" b="1">
                <a:latin typeface="Arial"/>
              </a:rPr>
              <a:t>Commercial Viability
</a:t>
            </a:r>
            <a:r>
              <a:rPr sz="1200" b="0">
                <a:latin typeface="Arial"/>
              </a:rPr>
              <a:t>Complies fully with MoPNG public procurement rules and GeM guidelines, turning idle warehouse stock into freed working capital.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0FDDD56-5F93-667C-C522-4C4FDDBC0F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2846245"/>
              </p:ext>
            </p:extLst>
          </p:nvPr>
        </p:nvGraphicFramePr>
        <p:xfrm>
          <a:off x="329773" y="2520881"/>
          <a:ext cx="11382720" cy="2764436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812792">
                  <a:extLst>
                    <a:ext uri="{9D8B030D-6E8A-4147-A177-3AD203B41FA5}">
                      <a16:colId xmlns:a16="http://schemas.microsoft.com/office/drawing/2014/main" val="3837357606"/>
                    </a:ext>
                  </a:extLst>
                </a:gridCol>
                <a:gridCol w="4446778">
                  <a:extLst>
                    <a:ext uri="{9D8B030D-6E8A-4147-A177-3AD203B41FA5}">
                      <a16:colId xmlns:a16="http://schemas.microsoft.com/office/drawing/2014/main" val="1540384696"/>
                    </a:ext>
                  </a:extLst>
                </a:gridCol>
                <a:gridCol w="5123150">
                  <a:extLst>
                    <a:ext uri="{9D8B030D-6E8A-4147-A177-3AD203B41FA5}">
                      <a16:colId xmlns:a16="http://schemas.microsoft.com/office/drawing/2014/main" val="2494934458"/>
                    </a:ext>
                  </a:extLst>
                </a:gridCol>
              </a:tblGrid>
              <a:tr h="541248">
                <a:tc>
                  <a:txBody>
                    <a:bodyPr/>
                    <a:lstStyle/>
                    <a:p>
                      <a:r>
                        <a:rPr sz="1400" b="1" dirty="0">
                          <a:solidFill>
                            <a:schemeClr val="tx1"/>
                          </a:solidFill>
                        </a:rPr>
                        <a:t>Dimension</a:t>
                      </a:r>
                      <a:endParaRPr sz="1400" b="1" dirty="0">
                        <a:solidFill>
                          <a:schemeClr val="tx1"/>
                        </a:solidFill>
                        <a:latin typeface="Arial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r>
                        <a:rPr sz="1400" b="1" dirty="0">
                          <a:solidFill>
                            <a:schemeClr val="tx1"/>
                          </a:solidFill>
                        </a:rPr>
                        <a:t>Identified Challenge &amp; Risk</a:t>
                      </a:r>
                      <a:endParaRPr sz="1400" b="1" dirty="0">
                        <a:solidFill>
                          <a:schemeClr val="tx1"/>
                        </a:solidFill>
                        <a:latin typeface="Arial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r>
                        <a:rPr sz="1400" b="1" dirty="0">
                          <a:solidFill>
                            <a:schemeClr val="tx1"/>
                          </a:solidFill>
                        </a:rPr>
                        <a:t>Strategic Mitigation Strategy</a:t>
                      </a:r>
                      <a:endParaRPr sz="1400" b="1" dirty="0">
                        <a:solidFill>
                          <a:schemeClr val="tx1"/>
                        </a:solidFill>
                        <a:latin typeface="Arial"/>
                      </a:endParaRPr>
                    </a:p>
                  </a:txBody>
                  <a:tcPr marL="63500" marR="63500" marT="25400" marB="25400" anchor="ctr"/>
                </a:tc>
                <a:extLst>
                  <a:ext uri="{0D108BD9-81ED-4DB2-BD59-A6C34878D82A}">
                    <a16:rowId xmlns:a16="http://schemas.microsoft.com/office/drawing/2014/main" val="3803118762"/>
                  </a:ext>
                </a:extLst>
              </a:tr>
              <a:tr h="589501">
                <a:tc>
                  <a:txBody>
                    <a:bodyPr/>
                    <a:lstStyle/>
                    <a:p>
                      <a:r>
                        <a:rPr sz="1200" b="1" dirty="0"/>
                        <a:t>Safety in High-Pressure Plants
(Critical Process Spares)</a:t>
                      </a:r>
                      <a:endParaRPr sz="1200" b="1" dirty="0">
                        <a:latin typeface="Arial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r>
                        <a:rPr sz="1200" b="0" dirty="0"/>
                        <a:t>AI might confuse two similar-looking parts (e.g., wrong pressure rating), risking pipe leaks or plant accidents.</a:t>
                      </a:r>
                      <a:endParaRPr sz="1200" b="0" dirty="0">
                        <a:latin typeface="Arial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r>
                        <a:rPr sz="1200" b="0"/>
                        <a:t>Deterministic Engineering Rules: Strict rules enforce zero tolerance on size, pressure, and metal grades—blocking unsafe AI suggestions every time.</a:t>
                      </a:r>
                      <a:endParaRPr sz="1200" b="0">
                        <a:latin typeface="Arial"/>
                      </a:endParaRPr>
                    </a:p>
                  </a:txBody>
                  <a:tcPr marL="63500" marR="63500" marT="25400" marB="25400" anchor="ctr"/>
                </a:tc>
                <a:extLst>
                  <a:ext uri="{0D108BD9-81ED-4DB2-BD59-A6C34878D82A}">
                    <a16:rowId xmlns:a16="http://schemas.microsoft.com/office/drawing/2014/main" val="3672542135"/>
                  </a:ext>
                </a:extLst>
              </a:tr>
              <a:tr h="541248">
                <a:tc>
                  <a:txBody>
                    <a:bodyPr/>
                    <a:lstStyle/>
                    <a:p>
                      <a:r>
                        <a:rPr sz="1200" b="1"/>
                        <a:t>User Adoption
(Plant &amp; Site Engineers)</a:t>
                      </a:r>
                      <a:endParaRPr sz="1200" b="1">
                        <a:latin typeface="Arial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r>
                        <a:rPr sz="1200" b="0" dirty="0"/>
                        <a:t>Busy site engineers avoid using complicated tools with long manual forms during urgent plant maintenance.</a:t>
                      </a:r>
                      <a:endParaRPr sz="1200" b="0" dirty="0">
                        <a:latin typeface="Arial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r>
                        <a:rPr sz="1200" b="0"/>
                        <a:t>Zero-Typing Smart Upload: Auto-extracts specs from certificates in under 30 seconds; engineers only review simple green/amber verification badges.</a:t>
                      </a:r>
                      <a:endParaRPr sz="1200" b="0">
                        <a:latin typeface="Arial"/>
                      </a:endParaRPr>
                    </a:p>
                  </a:txBody>
                  <a:tcPr marL="63500" marR="63500" marT="25400" marB="25400" anchor="ctr"/>
                </a:tc>
                <a:extLst>
                  <a:ext uri="{0D108BD9-81ED-4DB2-BD59-A6C34878D82A}">
                    <a16:rowId xmlns:a16="http://schemas.microsoft.com/office/drawing/2014/main" val="1650893405"/>
                  </a:ext>
                </a:extLst>
              </a:tr>
              <a:tr h="541248">
                <a:tc>
                  <a:txBody>
                    <a:bodyPr/>
                    <a:lstStyle/>
                    <a:p>
                      <a:r>
                        <a:rPr sz="1200" b="1"/>
                        <a:t>Data Confidentiality
(Inter-CPSE Commercials)</a:t>
                      </a:r>
                      <a:endParaRPr sz="1200" b="1">
                        <a:latin typeface="Arial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r>
                        <a:rPr sz="1200" b="0" dirty="0"/>
                        <a:t>Enterprises are reluctant to share sensitive supplier pricing, commercial discounts, or private vendor contracts.</a:t>
                      </a:r>
                      <a:endParaRPr sz="1200" b="0" dirty="0">
                        <a:latin typeface="Arial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r>
                        <a:rPr sz="1200" b="0"/>
                        <a:t>Attribute-Level Privacy: Cross-company search reveals only physical specs and depot inventory counts; commercial prices remain strictly hidden.</a:t>
                      </a:r>
                      <a:endParaRPr sz="1200" b="0">
                        <a:latin typeface="Arial"/>
                      </a:endParaRPr>
                    </a:p>
                  </a:txBody>
                  <a:tcPr marL="63500" marR="63500" marT="25400" marB="25400" anchor="ctr"/>
                </a:tc>
                <a:extLst>
                  <a:ext uri="{0D108BD9-81ED-4DB2-BD59-A6C34878D82A}">
                    <a16:rowId xmlns:a16="http://schemas.microsoft.com/office/drawing/2014/main" val="529366037"/>
                  </a:ext>
                </a:extLst>
              </a:tr>
              <a:tr h="541252">
                <a:tc>
                  <a:txBody>
                    <a:bodyPr/>
                    <a:lstStyle/>
                    <a:p>
                      <a:r>
                        <a:rPr sz="1200" b="1"/>
                        <a:t>ERP Stability
(IT Infrastructure Safety)</a:t>
                      </a:r>
                      <a:endParaRPr sz="1200" b="1">
                        <a:latin typeface="Arial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r>
                        <a:rPr sz="1200" b="0" dirty="0"/>
                        <a:t>IT teams worry about modifying live transactional tables or risking downtime in production SAP MM/Oracle databases.</a:t>
                      </a:r>
                      <a:endParaRPr sz="1200" b="0" dirty="0">
                        <a:latin typeface="Arial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r>
                        <a:rPr sz="1200" b="0" dirty="0"/>
                        <a:t>Zero-Risk Read-Only Layer: Connects purely as a safe reading layer—existing ERP databases and daily operations remain 100% untouched.</a:t>
                      </a:r>
                      <a:endParaRPr sz="1200" b="0" dirty="0">
                        <a:latin typeface="Arial"/>
                      </a:endParaRPr>
                    </a:p>
                  </a:txBody>
                  <a:tcPr marL="63500" marR="63500" marT="25400" marB="25400" anchor="ctr"/>
                </a:tc>
                <a:extLst>
                  <a:ext uri="{0D108BD9-81ED-4DB2-BD59-A6C34878D82A}">
                    <a16:rowId xmlns:a16="http://schemas.microsoft.com/office/drawing/2014/main" val="42259085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BharatCodex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6F0D63C-6CE7-C20B-78D3-5C34143549D7}"/>
              </a:ext>
            </a:extLst>
          </p:cNvPr>
          <p:cNvSpPr txBox="1"/>
          <p:nvPr/>
        </p:nvSpPr>
        <p:spPr>
          <a:xfrm>
            <a:off x="609600" y="1400092"/>
            <a:ext cx="3632219" cy="35445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Aft>
                <a:spcPts val="1000"/>
              </a:spcAft>
            </a:pPr>
            <a:r>
              <a:rPr sz="1600" b="1" dirty="0">
                <a:latin typeface="Arial"/>
              </a:rPr>
              <a:t>Target Audience &amp; Operations</a:t>
            </a:r>
          </a:p>
          <a:p>
            <a:pPr algn="just">
              <a:spcAft>
                <a:spcPts val="800"/>
              </a:spcAft>
            </a:pPr>
            <a:r>
              <a:rPr sz="1200" b="0" dirty="0">
                <a:latin typeface="Arial"/>
              </a:rPr>
              <a:t>• </a:t>
            </a:r>
            <a:r>
              <a:rPr sz="1200" b="1" dirty="0">
                <a:latin typeface="Arial"/>
              </a:rPr>
              <a:t>Who It Helps: </a:t>
            </a:r>
            <a:r>
              <a:rPr sz="1200" b="0" dirty="0">
                <a:latin typeface="Arial"/>
              </a:rPr>
              <a:t>Ministry of Petroleum (</a:t>
            </a:r>
            <a:r>
              <a:rPr sz="1200" b="0" dirty="0" err="1">
                <a:latin typeface="Arial"/>
              </a:rPr>
              <a:t>MoPNG</a:t>
            </a:r>
            <a:r>
              <a:rPr sz="1200" b="0" dirty="0">
                <a:latin typeface="Arial"/>
              </a:rPr>
              <a:t>), Oil PSUs (IOCL, ONGC, BPCL, HPCL, GAIL), refinery engineers, and depot purchase managers.</a:t>
            </a:r>
          </a:p>
          <a:p>
            <a:pPr algn="just">
              <a:spcAft>
                <a:spcPts val="800"/>
              </a:spcAft>
            </a:pPr>
            <a:r>
              <a:rPr sz="1200" b="0" dirty="0">
                <a:latin typeface="Arial"/>
              </a:rPr>
              <a:t>• </a:t>
            </a:r>
            <a:r>
              <a:rPr sz="1200" b="1" dirty="0">
                <a:latin typeface="Arial"/>
              </a:rPr>
              <a:t>Emergency Spares in Under 48 Hours: </a:t>
            </a:r>
            <a:r>
              <a:rPr sz="1200" b="0" dirty="0">
                <a:latin typeface="Arial"/>
              </a:rPr>
              <a:t>Cuts spare part procurement time from 4–6 weeks of public tendering down to under 48 hours via sister company depots.</a:t>
            </a:r>
          </a:p>
          <a:p>
            <a:pPr algn="just">
              <a:spcAft>
                <a:spcPts val="800"/>
              </a:spcAft>
            </a:pPr>
            <a:r>
              <a:rPr sz="1200" b="0" dirty="0">
                <a:latin typeface="Arial"/>
              </a:rPr>
              <a:t>• </a:t>
            </a:r>
            <a:r>
              <a:rPr sz="1200" b="1" dirty="0">
                <a:latin typeface="Arial"/>
              </a:rPr>
              <a:t>Cleans Up to 35% Duplicate Items: </a:t>
            </a:r>
            <a:r>
              <a:rPr sz="1200" b="0" dirty="0">
                <a:latin typeface="Arial"/>
              </a:rPr>
              <a:t>Eliminates confusing duplicate item codes across legacy SAP systems, creating one clean, standardized master catalog.</a:t>
            </a:r>
          </a:p>
          <a:p>
            <a:pPr algn="just">
              <a:spcAft>
                <a:spcPts val="800"/>
              </a:spcAft>
            </a:pPr>
            <a:r>
              <a:rPr sz="1200" b="0" dirty="0">
                <a:latin typeface="Arial"/>
              </a:rPr>
              <a:t>• </a:t>
            </a:r>
            <a:r>
              <a:rPr sz="1200" b="1" dirty="0">
                <a:latin typeface="Arial"/>
              </a:rPr>
              <a:t>Prevents Costly Plant Shutdowns: </a:t>
            </a:r>
            <a:r>
              <a:rPr sz="1200" b="0" dirty="0">
                <a:latin typeface="Arial"/>
              </a:rPr>
              <a:t>Locates emergency replacement spares immediately, avoiding unplanned refinery outages that cost over </a:t>
            </a:r>
            <a:r>
              <a:rPr lang="en-US" sz="1200" dirty="0">
                <a:latin typeface="Arial"/>
              </a:rPr>
              <a:t>upwards to Tens of</a:t>
            </a:r>
            <a:r>
              <a:rPr sz="1200" b="0" dirty="0">
                <a:latin typeface="Arial"/>
              </a:rPr>
              <a:t> Lakhs per hour.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6B7B7C7-7EC9-CC35-1F90-FC7B03735321}"/>
              </a:ext>
            </a:extLst>
          </p:cNvPr>
          <p:cNvSpPr txBox="1"/>
          <p:nvPr/>
        </p:nvSpPr>
        <p:spPr>
          <a:xfrm>
            <a:off x="4484850" y="1400092"/>
            <a:ext cx="3632219" cy="35445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Aft>
                <a:spcPts val="1000"/>
              </a:spcAft>
            </a:pPr>
            <a:r>
              <a:rPr sz="1600" b="1" dirty="0">
                <a:latin typeface="Arial"/>
              </a:rPr>
              <a:t>Economic &amp; Financial Impact</a:t>
            </a:r>
          </a:p>
          <a:p>
            <a:pPr algn="just">
              <a:spcAft>
                <a:spcPts val="800"/>
              </a:spcAft>
            </a:pPr>
            <a:r>
              <a:rPr sz="1200" b="0" dirty="0">
                <a:latin typeface="Arial"/>
              </a:rPr>
              <a:t>• </a:t>
            </a:r>
            <a:r>
              <a:rPr sz="1200" b="1" dirty="0">
                <a:latin typeface="Arial"/>
              </a:rPr>
              <a:t>Unlocks ₹</a:t>
            </a:r>
            <a:r>
              <a:rPr lang="en-US" sz="1200" b="1" dirty="0">
                <a:latin typeface="Arial"/>
              </a:rPr>
              <a:t>100</a:t>
            </a:r>
            <a:r>
              <a:rPr sz="1200" b="1" dirty="0">
                <a:latin typeface="Arial"/>
              </a:rPr>
              <a:t>+ Crores: </a:t>
            </a:r>
            <a:r>
              <a:rPr sz="1200" b="0" dirty="0">
                <a:latin typeface="Arial"/>
              </a:rPr>
              <a:t>Frees 15%–25% of dormant working capital trapped in idle, duplicate inventory across </a:t>
            </a:r>
            <a:r>
              <a:rPr sz="1200" b="0" dirty="0" err="1">
                <a:latin typeface="Arial"/>
              </a:rPr>
              <a:t>MoPNG</a:t>
            </a:r>
            <a:r>
              <a:rPr sz="1200" b="0" dirty="0">
                <a:latin typeface="Arial"/>
              </a:rPr>
              <a:t> enterprises.</a:t>
            </a:r>
          </a:p>
          <a:p>
            <a:pPr algn="just">
              <a:spcAft>
                <a:spcPts val="800"/>
              </a:spcAft>
            </a:pPr>
            <a:r>
              <a:rPr sz="1200" b="0" dirty="0">
                <a:latin typeface="Arial"/>
              </a:rPr>
              <a:t>• </a:t>
            </a:r>
            <a:r>
              <a:rPr sz="1200" b="1" dirty="0">
                <a:latin typeface="Arial"/>
              </a:rPr>
              <a:t>8%–15% Bulk Sourcing Savings: </a:t>
            </a:r>
            <a:r>
              <a:rPr sz="1200" b="0" dirty="0">
                <a:latin typeface="Arial"/>
              </a:rPr>
              <a:t>Combines common purchasing demand across all oil companies to secure high-volume discounts on the Government e-Marketplace (</a:t>
            </a:r>
            <a:r>
              <a:rPr sz="1200" b="0" dirty="0" err="1">
                <a:latin typeface="Arial"/>
              </a:rPr>
              <a:t>GeM</a:t>
            </a:r>
            <a:r>
              <a:rPr sz="1200" b="0" dirty="0">
                <a:latin typeface="Arial"/>
              </a:rPr>
              <a:t>).</a:t>
            </a:r>
          </a:p>
          <a:p>
            <a:pPr algn="just">
              <a:spcAft>
                <a:spcPts val="800"/>
              </a:spcAft>
            </a:pPr>
            <a:r>
              <a:rPr sz="1200" b="0" dirty="0">
                <a:latin typeface="Arial"/>
              </a:rPr>
              <a:t>• </a:t>
            </a:r>
            <a:r>
              <a:rPr sz="1200" b="1" dirty="0">
                <a:latin typeface="Arial"/>
              </a:rPr>
              <a:t>Eliminates Rush-Purchase Premiums: </a:t>
            </a:r>
            <a:r>
              <a:rPr sz="1200" b="0" dirty="0">
                <a:latin typeface="Arial"/>
              </a:rPr>
              <a:t>Avoids paying inflated spot-market prices and expensive emergency air-freight shipping during sudden equipment breakdowns.</a:t>
            </a:r>
          </a:p>
          <a:p>
            <a:pPr algn="just">
              <a:spcAft>
                <a:spcPts val="800"/>
              </a:spcAft>
            </a:pPr>
            <a:r>
              <a:rPr sz="1200" b="0" dirty="0">
                <a:latin typeface="Arial"/>
              </a:rPr>
              <a:t>• </a:t>
            </a:r>
            <a:r>
              <a:rPr sz="1200" b="1" dirty="0">
                <a:latin typeface="Arial"/>
              </a:rPr>
              <a:t>Lower Warehouse Holding Costs: </a:t>
            </a:r>
            <a:r>
              <a:rPr sz="1200" b="0" dirty="0">
                <a:latin typeface="Arial"/>
              </a:rPr>
              <a:t>Reduces storage crowding, insurance fees, and obsolescence waste by sharing slow-moving backup and insurance spares.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0744AD4-D65B-A369-65B6-C53EC3EB0ADC}"/>
              </a:ext>
            </a:extLst>
          </p:cNvPr>
          <p:cNvSpPr txBox="1"/>
          <p:nvPr/>
        </p:nvSpPr>
        <p:spPr>
          <a:xfrm>
            <a:off x="8360101" y="1400092"/>
            <a:ext cx="3632219" cy="35445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Aft>
                <a:spcPts val="1000"/>
              </a:spcAft>
            </a:pPr>
            <a:r>
              <a:rPr sz="1600" b="1" dirty="0">
                <a:latin typeface="Arial"/>
              </a:rPr>
              <a:t>Social, Strategic &amp; Green</a:t>
            </a:r>
          </a:p>
          <a:p>
            <a:pPr algn="just">
              <a:spcAft>
                <a:spcPts val="800"/>
              </a:spcAft>
            </a:pPr>
            <a:r>
              <a:rPr sz="1200" b="0" dirty="0">
                <a:latin typeface="Arial"/>
              </a:rPr>
              <a:t>• </a:t>
            </a:r>
            <a:r>
              <a:rPr sz="1200" b="1" dirty="0" err="1">
                <a:latin typeface="Arial"/>
              </a:rPr>
              <a:t>Aatmanirbhar</a:t>
            </a:r>
            <a:r>
              <a:rPr sz="1200" b="1" dirty="0">
                <a:latin typeface="Arial"/>
              </a:rPr>
              <a:t> Bharat: </a:t>
            </a:r>
            <a:r>
              <a:rPr sz="1200" b="0" dirty="0">
                <a:latin typeface="Arial"/>
              </a:rPr>
              <a:t>Builds sovereign digital infrastructure for India's energy sector, strengthening energy security and cutting foreign import dependency.</a:t>
            </a:r>
          </a:p>
          <a:p>
            <a:pPr algn="just">
              <a:spcAft>
                <a:spcPts val="800"/>
              </a:spcAft>
            </a:pPr>
            <a:r>
              <a:rPr sz="1200" b="0" dirty="0">
                <a:latin typeface="Arial"/>
              </a:rPr>
              <a:t>• </a:t>
            </a:r>
            <a:r>
              <a:rPr sz="1200" b="1" dirty="0">
                <a:latin typeface="Arial"/>
              </a:rPr>
              <a:t>Zero Industrial Accidents: </a:t>
            </a:r>
            <a:r>
              <a:rPr sz="1200" b="0" dirty="0">
                <a:latin typeface="Arial"/>
              </a:rPr>
              <a:t>Strict ASME/ASTM safety guardrails eliminate mismatched valves and flanges, preventing hazardous leaks, explosions, and plant fires.</a:t>
            </a:r>
          </a:p>
          <a:p>
            <a:pPr algn="just">
              <a:spcAft>
                <a:spcPts val="800"/>
              </a:spcAft>
            </a:pPr>
            <a:r>
              <a:rPr sz="1200" b="0" dirty="0">
                <a:latin typeface="Arial"/>
              </a:rPr>
              <a:t>• </a:t>
            </a:r>
            <a:r>
              <a:rPr sz="1200" b="1" dirty="0">
                <a:latin typeface="Arial"/>
              </a:rPr>
              <a:t>Greener Operations &amp; Lower Emissions: </a:t>
            </a:r>
            <a:r>
              <a:rPr sz="1200" b="0" dirty="0">
                <a:latin typeface="Arial"/>
              </a:rPr>
              <a:t>Mobilizing existing domestic surplus stock avoids unnecessary new steel manufacturing and cuts redundant transport emissions.</a:t>
            </a:r>
          </a:p>
          <a:p>
            <a:pPr algn="just">
              <a:spcAft>
                <a:spcPts val="800"/>
              </a:spcAft>
            </a:pPr>
            <a:r>
              <a:rPr sz="1200" b="0" dirty="0">
                <a:latin typeface="Arial"/>
              </a:rPr>
              <a:t>• </a:t>
            </a:r>
            <a:r>
              <a:rPr sz="1200" b="1" dirty="0">
                <a:latin typeface="Arial"/>
              </a:rPr>
              <a:t>Inter-PSU Collaboration: </a:t>
            </a:r>
            <a:r>
              <a:rPr sz="1200" b="0" dirty="0">
                <a:latin typeface="Arial"/>
              </a:rPr>
              <a:t>Pioneers seamless resource sharing and cooperative governance across India's premier public sector enterprises.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329773" y="1400963"/>
            <a:ext cx="11539498" cy="35137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R="0" lvl="0" algn="just" defTabSz="4572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ClrTx/>
              <a:buSzTx/>
              <a:tabLst/>
              <a:defRPr/>
            </a:pPr>
            <a:r>
              <a:rPr sz="1300" b="1" dirty="0">
                <a:latin typeface="Arial"/>
              </a:rPr>
              <a:t>1. Engineering Safety &amp; Quality Standards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algn="just">
              <a:spcAft>
                <a:spcPts val="200"/>
              </a:spcAft>
            </a:pPr>
            <a:r>
              <a:rPr sz="1200" b="0" dirty="0">
                <a:latin typeface="Arial"/>
              </a:rPr>
              <a:t>   • </a:t>
            </a:r>
            <a:r>
              <a:rPr sz="1200" b="1" dirty="0">
                <a:latin typeface="Arial"/>
              </a:rPr>
              <a:t>ASME B16.5 (2020): </a:t>
            </a:r>
            <a:r>
              <a:rPr sz="1200" b="0" dirty="0">
                <a:latin typeface="Arial"/>
              </a:rPr>
              <a:t>Standard dimensions and pressure classes for industrial pipe flanges.</a:t>
            </a:r>
          </a:p>
          <a:p>
            <a:pPr algn="just">
              <a:spcAft>
                <a:spcPts val="200"/>
              </a:spcAft>
            </a:pPr>
            <a:r>
              <a:rPr sz="1200" b="0" dirty="0">
                <a:latin typeface="Arial"/>
              </a:rPr>
              <a:t>   • </a:t>
            </a:r>
            <a:r>
              <a:rPr sz="1200" b="1" dirty="0">
                <a:latin typeface="Arial"/>
              </a:rPr>
              <a:t>ASTM Specifications: </a:t>
            </a:r>
            <a:r>
              <a:rPr sz="1200" b="0" dirty="0">
                <a:latin typeface="Arial"/>
              </a:rPr>
              <a:t>Material grades for carbon steel (A105), stainless steel (A182), and cast steel (A216).</a:t>
            </a:r>
          </a:p>
          <a:p>
            <a:pPr algn="just">
              <a:spcAft>
                <a:spcPts val="200"/>
              </a:spcAft>
            </a:pPr>
            <a:r>
              <a:rPr sz="1200" b="0" dirty="0">
                <a:latin typeface="Arial"/>
              </a:rPr>
              <a:t>   • </a:t>
            </a:r>
            <a:r>
              <a:rPr sz="1200" b="1" dirty="0">
                <a:latin typeface="Arial"/>
              </a:rPr>
              <a:t>API 6D &amp; API 600: </a:t>
            </a:r>
            <a:r>
              <a:rPr sz="1200" b="0" dirty="0">
                <a:latin typeface="Arial"/>
              </a:rPr>
              <a:t>Manufacturing and testing standards for pipeline valves and plant gate valves.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200" b="0" dirty="0">
                <a:latin typeface="Arial"/>
              </a:rPr>
              <a:t>   • </a:t>
            </a:r>
            <a:r>
              <a:rPr sz="1200" b="1" dirty="0">
                <a:latin typeface="Arial"/>
              </a:rPr>
              <a:t>EN 10204 (3.1): </a:t>
            </a:r>
            <a:r>
              <a:rPr sz="1200" b="0" dirty="0">
                <a:latin typeface="Arial"/>
              </a:rPr>
              <a:t>International standard for Mill Test Certificates (MTCs) and material traceability.</a:t>
            </a:r>
          </a:p>
          <a:p>
            <a:pPr>
              <a:spcAft>
                <a:spcPts val="200"/>
              </a:spcAft>
            </a:pPr>
            <a:r>
              <a:rPr sz="1300" b="1" dirty="0">
                <a:latin typeface="Arial"/>
              </a:rPr>
              <a:t>2. Artificial Intelligence &amp; Smart Search</a:t>
            </a:r>
          </a:p>
          <a:p>
            <a:pPr>
              <a:spcAft>
                <a:spcPts val="200"/>
              </a:spcAft>
            </a:pPr>
            <a:r>
              <a:rPr sz="1200" b="0" dirty="0">
                <a:latin typeface="Arial"/>
              </a:rPr>
              <a:t>   • </a:t>
            </a:r>
            <a:r>
              <a:rPr sz="1200" b="1" dirty="0">
                <a:latin typeface="Arial"/>
              </a:rPr>
              <a:t>DeBERTa-v3 (ICLR 2021): </a:t>
            </a:r>
            <a:r>
              <a:rPr sz="1200" b="0" dirty="0">
                <a:latin typeface="Arial"/>
              </a:rPr>
              <a:t>Domain-adapted AI model for extracting physical attributes (size, rating, metallurgy) from messy text.</a:t>
            </a:r>
          </a:p>
          <a:p>
            <a:pPr>
              <a:spcAft>
                <a:spcPts val="200"/>
              </a:spcAft>
            </a:pPr>
            <a:r>
              <a:rPr sz="1200" b="0" dirty="0">
                <a:latin typeface="Arial"/>
              </a:rPr>
              <a:t>   • </a:t>
            </a:r>
            <a:r>
              <a:rPr sz="1200" b="1" dirty="0">
                <a:latin typeface="Arial"/>
              </a:rPr>
              <a:t>BGE-M3 Embeddings: </a:t>
            </a:r>
            <a:r>
              <a:rPr sz="1200" b="0" dirty="0">
                <a:latin typeface="Arial"/>
              </a:rPr>
              <a:t>Multi-granularity embedding model for fast cross-dialect semantic similarity matching.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200" b="0" dirty="0">
                <a:latin typeface="Arial"/>
              </a:rPr>
              <a:t>   • </a:t>
            </a:r>
            <a:r>
              <a:rPr sz="1200" b="1" dirty="0">
                <a:latin typeface="Arial"/>
              </a:rPr>
              <a:t>HNSW Vector Indexing: </a:t>
            </a:r>
            <a:r>
              <a:rPr sz="1200" b="0" dirty="0">
                <a:latin typeface="Arial"/>
              </a:rPr>
              <a:t>High-speed graph search in </a:t>
            </a:r>
            <a:r>
              <a:rPr sz="1200" b="0" dirty="0" err="1">
                <a:latin typeface="Arial"/>
              </a:rPr>
              <a:t>Qdrant</a:t>
            </a:r>
            <a:r>
              <a:rPr sz="1200" b="0" dirty="0">
                <a:latin typeface="Arial"/>
              </a:rPr>
              <a:t> delivering candidate retrieval in under 15 milliseconds.</a:t>
            </a:r>
          </a:p>
          <a:p>
            <a:pPr>
              <a:spcAft>
                <a:spcPts val="200"/>
              </a:spcAft>
            </a:pPr>
            <a:r>
              <a:rPr sz="1300" b="1" dirty="0">
                <a:latin typeface="Arial"/>
              </a:rPr>
              <a:t>3. Document Intelligence &amp; Computer Vision</a:t>
            </a:r>
          </a:p>
          <a:p>
            <a:pPr>
              <a:spcAft>
                <a:spcPts val="200"/>
              </a:spcAft>
            </a:pPr>
            <a:r>
              <a:rPr sz="1200" b="0" dirty="0">
                <a:latin typeface="Arial"/>
              </a:rPr>
              <a:t>   • </a:t>
            </a:r>
            <a:r>
              <a:rPr sz="1200" b="1" dirty="0" err="1">
                <a:latin typeface="Arial"/>
              </a:rPr>
              <a:t>PaddleOCR</a:t>
            </a:r>
            <a:r>
              <a:rPr sz="1200" b="1" dirty="0">
                <a:latin typeface="Arial"/>
              </a:rPr>
              <a:t> (PP-OCRv4): </a:t>
            </a:r>
            <a:r>
              <a:rPr sz="1200" b="0" dirty="0">
                <a:latin typeface="Arial"/>
              </a:rPr>
              <a:t>Ultra-lightweight OCR with automatic angle correction for rotated delivery slips and equipment nameplates.</a:t>
            </a:r>
          </a:p>
          <a:p>
            <a:pPr>
              <a:spcAft>
                <a:spcPts val="200"/>
              </a:spcAft>
            </a:pPr>
            <a:r>
              <a:rPr sz="1200" b="0" dirty="0">
                <a:latin typeface="Arial"/>
              </a:rPr>
              <a:t>   • </a:t>
            </a:r>
            <a:r>
              <a:rPr sz="1200" b="1" dirty="0" err="1">
                <a:latin typeface="Arial"/>
              </a:rPr>
              <a:t>PyMuPDF</a:t>
            </a:r>
            <a:r>
              <a:rPr sz="1200" b="1" dirty="0">
                <a:latin typeface="Arial"/>
              </a:rPr>
              <a:t>: </a:t>
            </a:r>
            <a:r>
              <a:rPr sz="1200" b="0" dirty="0">
                <a:latin typeface="Arial"/>
              </a:rPr>
              <a:t>High-performance engine for sub-50ms text and table stream extraction from native digital PDF certificates.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300" b="1" dirty="0">
                <a:latin typeface="Arial"/>
              </a:rPr>
              <a:t>4. Public Procurement &amp; Government Taxonomies</a:t>
            </a:r>
          </a:p>
          <a:p>
            <a:pPr>
              <a:spcAft>
                <a:spcPts val="200"/>
              </a:spcAft>
            </a:pPr>
            <a:r>
              <a:rPr sz="1200" b="0" dirty="0">
                <a:latin typeface="Arial"/>
              </a:rPr>
              <a:t>   • </a:t>
            </a:r>
            <a:r>
              <a:rPr sz="1200" b="1" dirty="0">
                <a:latin typeface="Arial"/>
              </a:rPr>
              <a:t>UNSPSC v26.0 &amp; </a:t>
            </a:r>
            <a:r>
              <a:rPr sz="1200" b="1" dirty="0" err="1">
                <a:latin typeface="Arial"/>
              </a:rPr>
              <a:t>GeM</a:t>
            </a:r>
            <a:r>
              <a:rPr sz="1200" b="1" dirty="0">
                <a:latin typeface="Arial"/>
              </a:rPr>
              <a:t>: </a:t>
            </a:r>
            <a:r>
              <a:rPr sz="1200" b="0" dirty="0">
                <a:latin typeface="Arial"/>
              </a:rPr>
              <a:t>Standardized commodity codes and Government e-Marketplace schemas for public procurement.</a:t>
            </a:r>
          </a:p>
          <a:p>
            <a:pPr>
              <a:spcAft>
                <a:spcPts val="200"/>
              </a:spcAft>
            </a:pPr>
            <a:r>
              <a:rPr sz="1200" b="0" dirty="0">
                <a:latin typeface="Arial"/>
              </a:rPr>
              <a:t>   • </a:t>
            </a:r>
            <a:r>
              <a:rPr sz="1200" b="1" dirty="0" err="1">
                <a:latin typeface="Arial"/>
              </a:rPr>
              <a:t>MoPNG</a:t>
            </a:r>
            <a:r>
              <a:rPr sz="1200" b="1" dirty="0">
                <a:latin typeface="Arial"/>
              </a:rPr>
              <a:t> &amp; DPE Directives: </a:t>
            </a:r>
            <a:r>
              <a:rPr sz="1200" b="0" dirty="0">
                <a:latin typeface="Arial"/>
              </a:rPr>
              <a:t>Department of Public Enterprises guidelines on inventory rationalization and inter-PSU resource sharing.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BharatCodex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  <p:transition spd="slow">
    <p:wip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7839</TotalTime>
  <Words>1617</Words>
  <Application>Microsoft Office PowerPoint</Application>
  <PresentationFormat>Widescreen</PresentationFormat>
  <Paragraphs>128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ＭＳ Ｐゴシック</vt:lpstr>
      <vt:lpstr>Arial</vt:lpstr>
      <vt:lpstr>Calibri</vt:lpstr>
      <vt:lpstr>Garamond</vt:lpstr>
      <vt:lpstr>Times New Roman</vt:lpstr>
      <vt:lpstr>TradeGothic</vt:lpstr>
      <vt:lpstr>Office Theme</vt:lpstr>
      <vt:lpstr>SMART INDIA HACKATHON 2026</vt:lpstr>
      <vt:lpstr>Samanvay-AI: Cross-CPSE Material Harmonization Engine</vt:lpstr>
      <vt:lpstr>TECHNICAL APPROACH</vt:lpstr>
      <vt:lpstr>FEASIBILITY AND VIABILITY</vt:lpstr>
      <vt:lpstr>IMPACT AND BENEFITS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Mayank Anand</cp:lastModifiedBy>
  <cp:revision>166</cp:revision>
  <dcterms:created xsi:type="dcterms:W3CDTF">2013-12-12T18:46:50Z</dcterms:created>
  <dcterms:modified xsi:type="dcterms:W3CDTF">2026-09-12T17:36:23Z</dcterms:modified>
  <cp:category/>
</cp:coreProperties>
</file>