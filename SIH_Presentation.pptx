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Garamond" panose="02020404030301010803" pitchFamily="18" charset="0"/>
      <p:regular r:id="rId9"/>
      <p:bold r:id="rId10"/>
      <p:italic r:id="rId11"/>
      <p:boldItalic r:id="rId12"/>
    </p:embeddedFont>
    <p:embeddedFont>
      <p:font typeface="Oswald" panose="000005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gSta+fZv5Zqp4IgHLUMy4tewOj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A318DC2-3BC8-48AB-A599-78308DF2A243}">
  <a:tblStyle styleId="{1A318DC2-3BC8-48AB-A599-78308DF2A24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F1F5"/>
          </a:solidFill>
        </a:fill>
      </a:tcStyle>
    </a:wholeTbl>
    <a:band1H>
      <a:tcTxStyle/>
      <a:tcStyle>
        <a:tcBdr/>
        <a:fill>
          <a:solidFill>
            <a:srgbClr val="CEE2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EE2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23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31" name="Google Shape;13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45" name="Google Shape;14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58" name="Google Shape;15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avLst/>
            <a:gdLst/>
            <a:ahLst/>
            <a:cxnLst/>
            <a:rect l="l" t="t" r="r" b="b"/>
            <a:pathLst>
              <a:path w="6184806" h="5154967" extrusionOk="0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sz="4000" b="1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31286" y="2076450"/>
            <a:ext cx="5924700" cy="365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ID: </a:t>
            </a:r>
            <a:r>
              <a:rPr lang="en-US" sz="20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SIH26099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Title: </a:t>
            </a:r>
            <a:r>
              <a:rPr lang="en-US" sz="20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AI-Driven Standardization and Harmonization of Material Codes Across CPSEs (MoPNG)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Theme: </a:t>
            </a:r>
            <a:r>
              <a:rPr lang="en-US" sz="20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Smart Automation / Clean &amp; Green Technology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Category: </a:t>
            </a:r>
            <a:r>
              <a:rPr lang="en-US" sz="20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Software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ID: </a:t>
            </a:r>
            <a:r>
              <a:rPr lang="en-US" sz="2000">
                <a:solidFill>
                  <a:schemeClr val="dk1"/>
                </a:solidFill>
              </a:rPr>
              <a:t>26P30</a:t>
            </a:r>
            <a:endParaRPr sz="2000" b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Name: </a:t>
            </a:r>
            <a:r>
              <a:rPr lang="en-US" sz="20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BharatCodex</a:t>
            </a:r>
            <a:endParaRPr sz="2000" b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endParaRPr/>
          </a:p>
          <a:p>
            <a:pPr marL="0" lvl="0" indent="0" algn="ctr" rtl="0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latin typeface="Times New Roman"/>
                <a:ea typeface="Times New Roman"/>
                <a:cs typeface="Times New Roman"/>
                <a:sym typeface="Times New Roman"/>
              </a:rPr>
              <a:t>Samanvay-AI: Cross-CPSE Material Harmonization Engine</a:t>
            </a:r>
            <a:endParaRPr/>
          </a:p>
        </p:txBody>
      </p:sp>
      <p:sp>
        <p:nvSpPr>
          <p:cNvPr id="102" name="Google Shape;102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2</a:t>
            </a:r>
          </a:p>
        </p:txBody>
      </p:sp>
      <p:sp>
        <p:nvSpPr>
          <p:cNvPr id="103" name="Google Shape;103;p2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"/>
          <p:cNvSpPr txBox="1"/>
          <p:nvPr/>
        </p:nvSpPr>
        <p:spPr>
          <a:xfrm>
            <a:off x="404640" y="1439199"/>
            <a:ext cx="3632219" cy="3323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Detailed Explanation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Unified Material Translator: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Connects different item codes across IOCL, ONGC, BPCL, HPCL, and GAIL into one shared, standard catalog without altering existing ERP systems.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Smart Document Reading: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Uses AI to automatically read and pull technical specifications from ERP dumps, scanned challans, and test certificates.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Safety-First Engineering Checks: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Strictly verifies dimensions, pressure ratings, and steel grades so only 100% safe, compatible parts are recommended.</a:t>
            </a:r>
            <a:endParaRPr dirty="0"/>
          </a:p>
        </p:txBody>
      </p:sp>
      <p:sp>
        <p:nvSpPr>
          <p:cNvPr id="106" name="Google Shape;106;p2"/>
          <p:cNvSpPr txBox="1"/>
          <p:nvPr/>
        </p:nvSpPr>
        <p:spPr>
          <a:xfrm>
            <a:off x="4279890" y="1439199"/>
            <a:ext cx="3632219" cy="3323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It Addresses the Problem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Zero Disruption to Existing ERPs: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Companies keep using their existing SAP/Oracle item codes</a:t>
            </a:r>
            <a:r>
              <a:rPr lang="en-US" sz="13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3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Samanvay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-AI acts as an external smart layer with zero database changes.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Share Idle Spares Across Plants: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Instantly spots unused surplus sitting in sister depots (e.g., ONGC Hazira has spares IOCL Panipat needs), avoiding redundant buying.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Combined Bulk Buying on </a:t>
            </a:r>
            <a:r>
              <a:rPr lang="en-US" sz="13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GeM</a:t>
            </a: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Combines common spare requirements across CPSEs to unlock high-volume bulk discounts on the Government e-Marketplace.</a:t>
            </a:r>
            <a:endParaRPr dirty="0"/>
          </a:p>
        </p:txBody>
      </p:sp>
      <p:sp>
        <p:nvSpPr>
          <p:cNvPr id="107" name="Google Shape;107;p2"/>
          <p:cNvSpPr txBox="1"/>
          <p:nvPr/>
        </p:nvSpPr>
        <p:spPr>
          <a:xfrm>
            <a:off x="8155141" y="1439199"/>
            <a:ext cx="3632219" cy="312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Innovation &amp; Uniqueness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Instant Certificate Intake: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Smart OCR automatically extracts technical specs directly from scanned Mill Test Certificates (MTCs) and delivery slips in seconds.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Pre-Purchase Radar &amp; CISF Gate Passes: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Alerts purchase officers to nearby idle stock, triggers indents, and generates tamper-proof SHA-256 CISF gate passes.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3-Tier Safety Rating: </a:t>
            </a:r>
            <a:r>
              <a:rPr lang="en-US" sz="13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Categorizes every match into Tier-1 (Exact Match), Tier-2 (Safe Upgrade), or Tier-3 (Rejected/Unsafe) using strict engineering standards.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3</a:t>
            </a:r>
          </a:p>
        </p:txBody>
      </p:sp>
      <p:sp>
        <p:nvSpPr>
          <p:cNvPr id="116" name="Google Shape;116;p3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7" name="Google Shape;117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4133616351"/>
              </p:ext>
            </p:extLst>
          </p:nvPr>
        </p:nvGraphicFramePr>
        <p:xfrm>
          <a:off x="236603" y="2902856"/>
          <a:ext cx="5184050" cy="3369800"/>
        </p:xfrm>
        <a:graphic>
          <a:graphicData uri="http://schemas.openxmlformats.org/drawingml/2006/table">
            <a:tbl>
              <a:tblPr firstRow="1" bandRow="1">
                <a:noFill/>
                <a:tableStyleId>{1A318DC2-3BC8-48AB-A599-78308DF2A243}</a:tableStyleId>
              </a:tblPr>
              <a:tblGrid>
                <a:gridCol w="1346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3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Module</a:t>
                      </a:r>
                      <a:endParaRPr sz="11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/>
                        <a:t>Framework / Technology</a:t>
                      </a:r>
                      <a:endParaRPr sz="11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/>
                        <a:t>Role &amp; Functionality</a:t>
                      </a:r>
                      <a:endParaRPr sz="1100" b="1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API &amp; Gateway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FastAPI</a:t>
                      </a:r>
                      <a:r>
                        <a:rPr lang="en-US" sz="900" b="0" dirty="0"/>
                        <a:t>, </a:t>
                      </a:r>
                      <a:r>
                        <a:rPr lang="en-US" sz="900" b="0" dirty="0" err="1"/>
                        <a:t>Pydantic</a:t>
                      </a:r>
                      <a:r>
                        <a:rPr lang="en-US" sz="900" b="0" dirty="0"/>
                        <a:t> v2, PostgreSQL</a:t>
                      </a:r>
                      <a:endParaRPr sz="9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900"/>
                        <a:t>Fast &amp; secure backend connection, data validation, and SHA-256 chained sovereign audit ledger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AI &amp; Extraction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/>
                        <a:t>PaddleOCR/PyMuPDF/PDFPlumber or related, DeBERTa-v3, BGE-M3</a:t>
                      </a:r>
                      <a:endParaRPr sz="9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/>
                        <a:t>Reads scanned certificates, pulls key technical specs, and finds matches in &lt;15ms</a:t>
                      </a:r>
                      <a:endParaRPr sz="9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Deterministic Core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/>
                        <a:t>Vectorized Python (Polars, NumPy)</a:t>
                      </a:r>
                      <a:endParaRPr sz="9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Instant safety checks using strict engineering rules (ASME/ASTM) to prevent mismatches</a:t>
                      </a:r>
                      <a:endParaRPr sz="9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1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Graph &amp; Vector DB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900"/>
                        <a:t>Neo4j 5.20 (CDC Streaming), Qdrant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r>
                        <a:rPr sz="900"/>
                        <a:t>Real-time CDC mirrors catalog to Property Star Graph; maps 19 CPSE depot locations &amp; ASME upgrade paths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1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/>
                        <a:t>Client Portal</a:t>
                      </a:r>
                      <a:endParaRPr sz="9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/>
                        <a:t>Next.js 16, React 19, Tailwind CSS, shadcn/ui</a:t>
                      </a:r>
                      <a:endParaRPr sz="9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Easy web dashboard for batch catalog uploads, 1-click approvals, and savings analytics</a:t>
                      </a:r>
                      <a:endParaRPr sz="9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9" name="Google Shape;119;p3"/>
          <p:cNvSpPr txBox="1"/>
          <p:nvPr/>
        </p:nvSpPr>
        <p:spPr>
          <a:xfrm>
            <a:off x="1414393" y="2521790"/>
            <a:ext cx="282847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Current Tech Stack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6096000" y="2742767"/>
            <a:ext cx="506698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Methodology &amp; Architecture</a:t>
            </a:r>
            <a:endParaRPr sz="18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5504863" y="3085981"/>
            <a:ext cx="6465475" cy="1877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Modular &amp; Reliable Architecture: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Clean separation between backend, AI models, and user interface ensures high performance and reliable operations.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100% Private &amp; Sovereign Deployment: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Runs entirely on secure government private cloud (NIC/RailTel) with zero external APIs—all sensitive data stays private.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Human-in-the-Loop Review: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Auto-approves clear matches (≥90%), while borderline cases (70%–90%) are shown side-by-side for quick 1-click human approval.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Safe</a:t>
            </a: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Plug-and-Play Integration: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Reads data securely from SAP MM / Oracle dumps without altering live transactional databases, guaranteeing zero operational risk.</a:t>
            </a:r>
            <a:endParaRPr dirty="0"/>
          </a:p>
        </p:txBody>
      </p:sp>
      <p:sp>
        <p:nvSpPr>
          <p:cNvPr id="122" name="Google Shape;122;p3"/>
          <p:cNvSpPr txBox="1"/>
          <p:nvPr/>
        </p:nvSpPr>
        <p:spPr>
          <a:xfrm>
            <a:off x="329773" y="1095375"/>
            <a:ext cx="2515563" cy="1554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Stage 01: Smart Document Intake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Dual-path parsing: Digital PDFs &amp; scanned certificates (MTCs).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PaddleOCR/PyMuPDF/PDFPlumber: Handles rotated &amp; blurry scans in &lt; 50 ms.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normalizer: Standardizes units, sizes, and messy enterprise dialects.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3188084" y="1079254"/>
            <a:ext cx="2515563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Stage 02: AI Spec Extraction &amp; Search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DeBERTa-v3 AI: Extracts Item Type, Size, Rating &amp; Metallurgy.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BGE-M3 + Qdrant: Fast semantic vector search in &lt; 15 ms.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Bridges dialects: Unifies abbreviations across IOCL, ONGC, BPCL, HPCL &amp; GAIL.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6046395" y="1087023"/>
            <a:ext cx="2515563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Stage 03: Engineering Safety Rules</a:t>
            </a:r>
            <a:endParaRPr dirty="0"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ASME / ASTM rules: Zero-tolerance size &amp; pressure rating checks.</a:t>
            </a:r>
            <a:endParaRPr dirty="0"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Prevents accidents: Overrides AI to block unsafe part mismatches.</a:t>
            </a:r>
            <a:endParaRPr dirty="0"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3-Tier safety tags: Tier-1 (Exact Match), Tier-2 (Upgrade), Tier-3 (Reject).</a:t>
            </a:r>
            <a:endParaRPr sz="105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8841785" y="1059580"/>
            <a:ext cx="2673612" cy="1546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Stage 04: Cross-CPSE Sharing &amp; Portal 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Neo4j Knowledge Graph: Real-time CDC streams idle surplus across 19 sister depots.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GeM &amp; UNSPSC mapping: Aggregates demand across CPSEs for bulk volume savings.</a:t>
            </a:r>
            <a:endParaRPr/>
          </a:p>
          <a:p>
            <a:pPr marL="171450" marR="0" lvl="0" indent="-1714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Next.js Web Dashboard: Real-time radar, 1-click approvals &amp; SHA-256 CISF gate passes.</a:t>
            </a:r>
            <a:endParaRPr sz="10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6" name="Google Shape;126;p3"/>
          <p:cNvCxnSpPr>
            <a:cxnSpLocks/>
            <a:stCxn id="122" idx="3"/>
          </p:cNvCxnSpPr>
          <p:nvPr/>
        </p:nvCxnSpPr>
        <p:spPr>
          <a:xfrm>
            <a:off x="2845336" y="1872511"/>
            <a:ext cx="47160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127" name="Google Shape;127;p3"/>
          <p:cNvCxnSpPr/>
          <p:nvPr/>
        </p:nvCxnSpPr>
        <p:spPr>
          <a:xfrm>
            <a:off x="5624395" y="1818650"/>
            <a:ext cx="47160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128" name="Google Shape;128;p3"/>
          <p:cNvCxnSpPr/>
          <p:nvPr/>
        </p:nvCxnSpPr>
        <p:spPr>
          <a:xfrm>
            <a:off x="8393688" y="1818650"/>
            <a:ext cx="47160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36" name="Google Shape;136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4</a:t>
            </a:r>
          </a:p>
        </p:txBody>
      </p:sp>
      <p:sp>
        <p:nvSpPr>
          <p:cNvPr id="137" name="Google Shape;137;p4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 txBox="1"/>
          <p:nvPr/>
        </p:nvSpPr>
        <p:spPr>
          <a:xfrm>
            <a:off x="404640" y="1439199"/>
            <a:ext cx="3632219" cy="877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Technical Scalability</a:t>
            </a: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Searches through 100,000 spare parts in &lt;15ms; 100% accuracy verified on 150/150 golden benchmark cases across Tier-1/2/3.</a:t>
            </a:r>
            <a:endParaRPr dirty="0"/>
          </a:p>
        </p:txBody>
      </p:sp>
      <p:sp>
        <p:nvSpPr>
          <p:cNvPr id="140" name="Google Shape;140;p4"/>
          <p:cNvSpPr txBox="1"/>
          <p:nvPr/>
        </p:nvSpPr>
        <p:spPr>
          <a:xfrm>
            <a:off x="4279890" y="1439199"/>
            <a:ext cx="3632219" cy="877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Operational Ease</a:t>
            </a: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Reads both clear digital PDFs and blurry mobile scans; intuitive web dashboard requires zero special training for warehouse and plant staff.</a:t>
            </a:r>
            <a:endParaRPr sz="16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8155141" y="1439199"/>
            <a:ext cx="3632219" cy="877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Commercial Viability</a:t>
            </a: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Complies fully with 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MoPNG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public procurement rules and 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GeM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guidelines, turning idle warehouse stock into freed working capital.</a:t>
            </a:r>
            <a:endParaRPr dirty="0"/>
          </a:p>
        </p:txBody>
      </p:sp>
      <p:graphicFrame>
        <p:nvGraphicFramePr>
          <p:cNvPr id="142" name="Google Shape;142;p4"/>
          <p:cNvGraphicFramePr/>
          <p:nvPr/>
        </p:nvGraphicFramePr>
        <p:xfrm>
          <a:off x="329773" y="2520881"/>
          <a:ext cx="11382725" cy="2764440"/>
        </p:xfrm>
        <a:graphic>
          <a:graphicData uri="http://schemas.openxmlformats.org/drawingml/2006/table">
            <a:tbl>
              <a:tblPr firstRow="1" bandRow="1">
                <a:noFill/>
                <a:tableStyleId>{1A318DC2-3BC8-48AB-A599-78308DF2A243}</a:tableStyleId>
              </a:tblPr>
              <a:tblGrid>
                <a:gridCol w="181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6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3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>
                          <a:solidFill>
                            <a:schemeClr val="dk1"/>
                          </a:solidFill>
                        </a:rPr>
                        <a:t>Dimension</a:t>
                      </a:r>
                      <a:endParaRPr sz="1400" b="1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>
                          <a:solidFill>
                            <a:schemeClr val="dk1"/>
                          </a:solidFill>
                        </a:rPr>
                        <a:t>Identified Challenge &amp; Risk</a:t>
                      </a:r>
                      <a:endParaRPr sz="1400" b="1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>
                          <a:solidFill>
                            <a:schemeClr val="dk1"/>
                          </a:solidFill>
                        </a:rPr>
                        <a:t>Strategic Mitigation Strategy</a:t>
                      </a:r>
                      <a:endParaRPr sz="1400" b="1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Safety in High-Pressure Plants</a:t>
                      </a:r>
                      <a:br>
                        <a:rPr lang="en-US" sz="1200" b="1" dirty="0"/>
                      </a:br>
                      <a:r>
                        <a:rPr lang="en-US" sz="1200" b="1" dirty="0"/>
                        <a:t>(Critical Process Spares)</a:t>
                      </a:r>
                      <a:endParaRPr sz="1200" b="1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AI might confuse two similar-looking parts (e.g., wrong pressure rating), risking pipe leaks or plant accidents.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Deterministic Engineering Rules: Strict rules enforce zero tolerance on size, pressure, and metal grades—blocking unsafe AI suggestions every time.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User Adoption</a:t>
                      </a:r>
                      <a:br>
                        <a:rPr lang="en-US" sz="1200" b="1"/>
                      </a:br>
                      <a:r>
                        <a:rPr lang="en-US" sz="1200" b="1"/>
                        <a:t>(Plant &amp; Site Engineers)</a:t>
                      </a:r>
                      <a:endParaRPr sz="1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Busy site engineers avoid using complicated tools with long manual forms during urgent plant maintenance.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Zero-Typing Smart Upload: Auto-extracts specs from certificates in under 30 seconds; engineers only review simple green/amber verification badges.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Data Confidentiality</a:t>
                      </a:r>
                      <a:br>
                        <a:rPr lang="en-US" sz="1200" b="1"/>
                      </a:br>
                      <a:r>
                        <a:rPr lang="en-US" sz="1200" b="1"/>
                        <a:t>(Inter-CPSE Commercials)</a:t>
                      </a:r>
                      <a:endParaRPr sz="1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Enterprises are reluctant to share sensitive supplier pricing, commercial discounts, or private vendor contracts.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Attribute-Level Privacy: Cross-company search reveals only physical specs and depot inventory counts; commercial prices remain strictly hidden.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ERP Stability</a:t>
                      </a:r>
                      <a:br>
                        <a:rPr lang="en-US" sz="1200" b="1"/>
                      </a:br>
                      <a:r>
                        <a:rPr lang="en-US" sz="1200" b="1"/>
                        <a:t>(IT Infrastructure Safety)</a:t>
                      </a:r>
                      <a:endParaRPr sz="12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IT teams worry about modifying live transactional tables or risking downtime in production SAP MM/Oracle databases.</a:t>
                      </a:r>
                      <a:endParaRPr sz="12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dirty="0"/>
                        <a:t>Zero-Risk Read-Only Layer: Connects purely as a safe reading layer—existing ERP databases and daily operations remain 100% untouched.</a:t>
                      </a:r>
                      <a:endParaRPr sz="12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0" name="Google Shape;150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5</a:t>
            </a:r>
          </a:p>
        </p:txBody>
      </p:sp>
      <p:sp>
        <p:nvSpPr>
          <p:cNvPr id="151" name="Google Shape;151;p5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5"/>
          <p:cNvSpPr txBox="1"/>
          <p:nvPr/>
        </p:nvSpPr>
        <p:spPr>
          <a:xfrm>
            <a:off x="609600" y="1400092"/>
            <a:ext cx="3632219" cy="354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 Audience &amp; Operations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 It Helps: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Ministry of Petroleum (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MoPNG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), Oil PSUs (IOCL, ONGC, BPCL, HPCL, GAIL), refinery engineers, and depot purchase managers.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Emergency Spares in Under 48 Hours: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Cuts spare procurement time from 4–6 weeks of public tendering (mandated by GFR 2017 Rule 161) down to under 48 hours via sister depots.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Cleans Up to 35% Duplicate Items: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Eliminates duplicate codes across legacy ERPs (aligning with ARC/Deloitte MRO benchmarks), creating one clean standardized master catalog.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Prevents Costly Plant Shutdowns: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Locates emergency replacement spares immediately, avoiding refinery outages costing ₹70 Lakh to ₹4+ Crores per hour (ABB/Oil Sector benchmarks).</a:t>
            </a:r>
            <a:endParaRPr dirty="0"/>
          </a:p>
        </p:txBody>
      </p:sp>
      <p:sp>
        <p:nvSpPr>
          <p:cNvPr id="154" name="Google Shape;154;p5"/>
          <p:cNvSpPr txBox="1"/>
          <p:nvPr/>
        </p:nvSpPr>
        <p:spPr>
          <a:xfrm>
            <a:off x="4484850" y="1400092"/>
            <a:ext cx="3632219" cy="4098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&amp; Financial Impact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Unlocks ₹1,000+ Crores Nationally: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Mobilizes dormant working capital across CPSEs (CAG Report No. 2 documented ₹706+ Cr non-moving spares in IOCL &amp; HPCL alone; ₹6,750+ Cr in ONGC).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8%–15% Bulk Sourcing Savings: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Combines common purchasing demand across all oil companies to secure high-volume discounts on 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GeM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(World Bank/IIM-L study verified).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Eliminates Rush-Purchase Premiums: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Avoids paying inflated spot-market prices and expensive emergency air-freight shipping during sudden equipment breakdowns.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Lower Warehouse Holding Costs: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Reduces annual carrying costs by 18%–25% (ASCM benchmark: capital, space, insurance, obsolescence) by liquidating slow-moving insurance spares.</a:t>
            </a:r>
            <a:endParaRPr dirty="0"/>
          </a:p>
        </p:txBody>
      </p:sp>
      <p:sp>
        <p:nvSpPr>
          <p:cNvPr id="155" name="Google Shape;155;p5"/>
          <p:cNvSpPr txBox="1"/>
          <p:nvPr/>
        </p:nvSpPr>
        <p:spPr>
          <a:xfrm>
            <a:off x="8360101" y="1400092"/>
            <a:ext cx="3632219" cy="3544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Social, Strategic &amp; Green</a:t>
            </a:r>
            <a:endParaRPr dirty="0"/>
          </a:p>
          <a:p>
            <a:pPr marL="0" marR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Aatmanirbhar</a:t>
            </a: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Bharat: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Builds sovereign digital infrastructure for India's energy sector, cutting ₹20,000+ Cr annual foreign exchange spent on imported spares (DPE Survey).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Zero Industrial Accidents: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 ASME/ASTM safety guardrails eliminate mismatched valves and flanges, preventing hazardous leaks, explosions, and plant fires.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Greener Operations &amp; Lower Emissions: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Mobilizing domestic surplus avoids redundant steel production (1.89 t CO₂/ton steel - </a:t>
            </a:r>
            <a:r>
              <a:rPr lang="en-US" sz="1200" b="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worldsteel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); geodesic routing tracks verified kg CO₂ saved.</a:t>
            </a:r>
            <a:endParaRPr dirty="0"/>
          </a:p>
          <a:p>
            <a:pPr marL="0" marR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Inter-PSU Collaboration: </a:t>
            </a:r>
            <a:r>
              <a:rPr lang="en-US" sz="1200" b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Pioneers seamless resource sharing and cooperative governance across India's premier public sector enterprises.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63" name="Google Shape;163;p6"/>
          <p:cNvSpPr txBox="1"/>
          <p:nvPr/>
        </p:nvSpPr>
        <p:spPr>
          <a:xfrm>
            <a:off x="329773" y="1400963"/>
            <a:ext cx="11539498" cy="351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1. Engineering Safety &amp; Quality Standards</a:t>
            </a:r>
            <a:endParaRPr sz="2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ASME B16.5 (2020):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Standard dimensions and pressure classes for industrial pipe flanges.</a:t>
            </a:r>
            <a:endParaRPr/>
          </a:p>
          <a:p>
            <a:pPr marL="0" marR="0" lvl="0" indent="0" algn="just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ASTM Specifications: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Material grades for carbon steel (A105), stainless steel (A182), and cast steel (A216).</a:t>
            </a:r>
            <a:endParaRPr/>
          </a:p>
          <a:p>
            <a:pPr marL="0" marR="0" lvl="0" indent="0" algn="just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6D &amp; API 600: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and testing standards for pipeline valves and plant gate valves.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 10204 (3.1):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International standard for Mill Test Certificates (MTCs) and material traceability.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 Artificial Intelligence &amp; Smart Search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DeBERTa-v3 (ICLR 2021):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Domain-adapted AI model for extracting physical attributes (size, rating, metallurgy) from messy text.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BGE-M3 Embeddings: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Multi-granularity embedding model for fast cross-dialect semantic similarity matching.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HNSW Vector Indexing: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High-speed graph search in Qdrant delivering candidate retrieval in under 15 milliseconds.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 Document Intelligence &amp; Computer Vision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PaddleOCR (PP-OCRv4):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Ultra-lightweight OCR with automatic angle correction for rotated delivery slips and equipment nameplates.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PyMuPDF: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High-performance engine for sub-50ms text and table stream extraction from native digital PDF certificates.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 Public Procurement &amp; Government Taxonomies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Public Procurement &amp; GeM (GFR 2017):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Rule 161 (21-day statutory open tender notice) and Rule 149 (GeM portal procurement); World Bank GeM impact study (9.75%–10% price savings).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• </a:t>
            </a:r>
            <a:r>
              <a:rPr lang="en-US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CAG &amp; DPE Benchmark Reports: </a:t>
            </a:r>
            <a:r>
              <a:rPr lang="en-US" sz="1200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CAG Report No. 2 (₹706+ Cr non-moving spares in IOCL/HPCL); DPE PE Survey (₹20,000+ Cr forex spares imports); ABB India downtime study (₹70L/hr).</a:t>
            </a:r>
            <a:endParaRPr/>
          </a:p>
        </p:txBody>
      </p:sp>
      <p:sp>
        <p:nvSpPr>
          <p:cNvPr id="164" name="Google Shape;164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t>6</a:t>
            </a:r>
          </a:p>
        </p:txBody>
      </p:sp>
      <p:sp>
        <p:nvSpPr>
          <p:cNvPr id="165" name="Google Shape;165;p6" descr="Your startup LOGO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BharatCodex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1717</Words>
  <Application>Microsoft Office PowerPoint</Application>
  <PresentationFormat>Widescreen</PresentationFormat>
  <Paragraphs>131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Times New Roman</vt:lpstr>
      <vt:lpstr>Oswald</vt:lpstr>
      <vt:lpstr>Calibri</vt:lpstr>
      <vt:lpstr>Garamond</vt:lpstr>
      <vt:lpstr>Arial</vt:lpstr>
      <vt:lpstr>Office Theme</vt:lpstr>
      <vt:lpstr>SMART INDIA HACKATHON 2026</vt:lpstr>
      <vt:lpstr>Samanvay-AI: Cross-CPSE Material Harmonization Engine</vt:lpstr>
      <vt:lpstr>TECHNICAL APPROACH</vt:lpstr>
      <vt:lpstr>FEASIBILITY AND VIABILITY</vt:lpstr>
      <vt:lpstr>IMPACT AND BENEFITS</vt:lpstr>
      <vt:lpstr>RESEARCH 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Crowdfunder</dc:creator>
  <cp:lastModifiedBy>Mayank Anand</cp:lastModifiedBy>
  <cp:revision>4</cp:revision>
  <dcterms:created xsi:type="dcterms:W3CDTF">2013-12-12T18:46:50Z</dcterms:created>
  <dcterms:modified xsi:type="dcterms:W3CDTF">2026-09-19T13:38:46Z</dcterms:modified>
</cp:coreProperties>
</file>