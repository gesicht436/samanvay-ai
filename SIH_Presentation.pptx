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43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3652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>
              <a:spcAft>
                <a:spcPts val="800"/>
              </a:spcAft>
            </a:pPr>
            <a:r>
              <a:rPr sz="2000" b="1" dirty="0">
                <a:latin typeface="Arial"/>
              </a:rPr>
              <a:t>Problem Statement ID: </a:t>
            </a:r>
            <a:r>
              <a:rPr sz="2000" b="0" dirty="0">
                <a:latin typeface="Arial"/>
              </a:rPr>
              <a:t>SIH26099</a:t>
            </a:r>
          </a:p>
          <a:p>
            <a:pPr>
              <a:spcAft>
                <a:spcPts val="800"/>
              </a:spcAft>
            </a:pPr>
            <a:r>
              <a:rPr sz="2000" b="1" dirty="0">
                <a:latin typeface="Arial"/>
              </a:rPr>
              <a:t>Problem Statement Title: </a:t>
            </a:r>
            <a:r>
              <a:rPr sz="2000" b="0" dirty="0">
                <a:latin typeface="Arial"/>
              </a:rPr>
              <a:t>AI-Driven and Harmonization of Material Codes </a:t>
            </a:r>
            <a:r>
              <a:rPr lang="en-IN" sz="2000" dirty="0">
                <a:latin typeface="Arial"/>
              </a:rPr>
              <a:t>Standardization</a:t>
            </a:r>
            <a:r>
              <a:rPr sz="2000" b="0" dirty="0">
                <a:latin typeface="Arial"/>
              </a:rPr>
              <a:t>Across CPSEs (</a:t>
            </a:r>
            <a:r>
              <a:rPr sz="2000" b="0" dirty="0" err="1">
                <a:latin typeface="Arial"/>
              </a:rPr>
              <a:t>MoPNG</a:t>
            </a:r>
            <a:r>
              <a:rPr sz="2000" b="0" dirty="0">
                <a:latin typeface="Arial"/>
              </a:rPr>
              <a:t>)</a:t>
            </a:r>
          </a:p>
          <a:p>
            <a:pPr>
              <a:spcAft>
                <a:spcPts val="800"/>
              </a:spcAft>
            </a:pPr>
            <a:r>
              <a:rPr sz="2000" b="1" dirty="0">
                <a:latin typeface="Arial"/>
              </a:rPr>
              <a:t>Theme: </a:t>
            </a:r>
            <a:r>
              <a:rPr sz="2000" b="0" dirty="0">
                <a:latin typeface="Arial"/>
              </a:rPr>
              <a:t>Smart Automation / Clean &amp; Green Technology</a:t>
            </a:r>
          </a:p>
          <a:p>
            <a:pPr>
              <a:spcAft>
                <a:spcPts val="800"/>
              </a:spcAft>
            </a:pPr>
            <a:r>
              <a:rPr sz="2000" b="1" dirty="0">
                <a:latin typeface="Arial"/>
              </a:rPr>
              <a:t>PS Category: </a:t>
            </a:r>
            <a:r>
              <a:rPr sz="2000" b="0" dirty="0">
                <a:latin typeface="Arial"/>
              </a:rPr>
              <a:t>Software</a:t>
            </a:r>
          </a:p>
          <a:p>
            <a:pPr>
              <a:spcAft>
                <a:spcPts val="800"/>
              </a:spcAft>
            </a:pPr>
            <a:r>
              <a:rPr sz="2000" b="1" dirty="0">
                <a:latin typeface="Arial"/>
              </a:rPr>
              <a:t>Team ID: </a:t>
            </a:r>
            <a:r>
              <a:rPr sz="2000" b="0" dirty="0">
                <a:latin typeface="Arial"/>
              </a:rPr>
              <a:t>[Your Team ID]</a:t>
            </a:r>
          </a:p>
          <a:p>
            <a:pPr>
              <a:spcAft>
                <a:spcPts val="800"/>
              </a:spcAft>
            </a:pPr>
            <a:r>
              <a:rPr sz="2000" b="1" dirty="0">
                <a:latin typeface="Arial"/>
              </a:rPr>
              <a:t>Team Name </a:t>
            </a:r>
            <a:r>
              <a:rPr lang="en-US" sz="2000" b="1" dirty="0">
                <a:latin typeface="Arial"/>
              </a:rPr>
              <a:t>: </a:t>
            </a:r>
            <a:r>
              <a:rPr sz="2000" b="0" dirty="0" err="1">
                <a:latin typeface="Arial"/>
              </a:rPr>
              <a:t>BharatCodex</a:t>
            </a:r>
            <a:endParaRPr sz="2000" b="0" dirty="0">
              <a:latin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6" name="Subtitle 5">
            <a:extLst>
              <a:ext uri="{FF2B5EF4-FFF2-40B4-BE49-F238E27FC236}">
                <a16:creationId xmlns:a16="http://schemas.microsoft.com/office/drawing/2014/main" id="{F2D5D65E-F62B-C0D0-C9DC-80511027C5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  <a:p>
            <a:endParaRPr lang="en-I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sz="2400" b="1" dirty="0" err="1">
                <a:latin typeface="Times New Roman"/>
              </a:rPr>
              <a:t>Samanvay</a:t>
            </a:r>
            <a:r>
              <a:rPr sz="2400" b="1" dirty="0">
                <a:latin typeface="Times New Roman"/>
              </a:rPr>
              <a:t>-AI: Cross-CPSE Material Harmonization Engine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239E18-22B0-48B3-D508-F56B97199F3A}"/>
              </a:ext>
            </a:extLst>
          </p:cNvPr>
          <p:cNvSpPr txBox="1"/>
          <p:nvPr/>
        </p:nvSpPr>
        <p:spPr>
          <a:xfrm>
            <a:off x="404640" y="1439199"/>
            <a:ext cx="3632219" cy="4389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1000"/>
              </a:spcAft>
            </a:pPr>
            <a:r>
              <a:rPr sz="1600" b="1" dirty="0">
                <a:latin typeface="Arial"/>
              </a:rPr>
              <a:t>Detailed Explanation</a:t>
            </a:r>
          </a:p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• </a:t>
            </a:r>
            <a:r>
              <a:rPr sz="1300" b="1" dirty="0">
                <a:latin typeface="Arial"/>
              </a:rPr>
              <a:t>Dual-Pillar Structure: </a:t>
            </a:r>
            <a:r>
              <a:rPr sz="1300" dirty="0">
                <a:latin typeface="Arial"/>
              </a:rPr>
              <a:t>Combines retrospective enterprise catalog deduplication with forward-looking procurement intake guardrails.</a:t>
            </a:r>
          </a:p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• </a:t>
            </a:r>
            <a:r>
              <a:rPr sz="1300" b="1" dirty="0">
                <a:latin typeface="Arial"/>
              </a:rPr>
              <a:t>Knowledge Graph Interlingua: </a:t>
            </a:r>
            <a:r>
              <a:rPr sz="1300" dirty="0">
                <a:latin typeface="Arial"/>
              </a:rPr>
              <a:t>Maps legacy SAP MM / Oracle material keys across IOCL, ONGC, and BPCL to canonical nodes linked to UNSPSC v26 and </a:t>
            </a:r>
            <a:r>
              <a:rPr sz="1300" dirty="0" err="1">
                <a:latin typeface="Arial"/>
              </a:rPr>
              <a:t>GeM</a:t>
            </a:r>
            <a:r>
              <a:rPr sz="1300" dirty="0">
                <a:latin typeface="Arial"/>
              </a:rPr>
              <a:t> taxonomies.</a:t>
            </a:r>
          </a:p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• </a:t>
            </a:r>
            <a:r>
              <a:rPr sz="1300" b="1" dirty="0">
                <a:latin typeface="Arial"/>
              </a:rPr>
              <a:t>Safety-First Engineering Validation: </a:t>
            </a:r>
            <a:r>
              <a:rPr sz="1300" dirty="0">
                <a:latin typeface="Arial"/>
              </a:rPr>
              <a:t>Embeds a deterministic ASME B16.5 / ASTM tolerance verification engine to eliminate catastrophic false-positive substitutions in critical hydrocarbon process spares.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F097F1-6262-74C5-8C15-651BF6A635C0}"/>
              </a:ext>
            </a:extLst>
          </p:cNvPr>
          <p:cNvSpPr txBox="1"/>
          <p:nvPr/>
        </p:nvSpPr>
        <p:spPr>
          <a:xfrm>
            <a:off x="4279890" y="1439199"/>
            <a:ext cx="3632219" cy="4389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1000"/>
              </a:spcAft>
            </a:pPr>
            <a:r>
              <a:rPr sz="1600" b="1" dirty="0">
                <a:latin typeface="Arial"/>
              </a:rPr>
              <a:t>How It Addresses the Problem</a:t>
            </a:r>
          </a:p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• </a:t>
            </a:r>
            <a:r>
              <a:rPr sz="1300" b="1" dirty="0">
                <a:latin typeface="Arial"/>
              </a:rPr>
              <a:t>Zero ERP Schema Migration: </a:t>
            </a:r>
            <a:r>
              <a:rPr sz="1300" dirty="0">
                <a:latin typeface="Arial"/>
              </a:rPr>
              <a:t>CPSEs retain familiar internal codes; system operates as a non-invasive semantic discovery overlay without database modifications.</a:t>
            </a:r>
          </a:p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• </a:t>
            </a:r>
            <a:r>
              <a:rPr sz="1300" b="1" dirty="0">
                <a:latin typeface="Arial"/>
              </a:rPr>
              <a:t>Cross-Enterprise Spare Visibility: </a:t>
            </a:r>
            <a:r>
              <a:rPr sz="1300" dirty="0">
                <a:latin typeface="Arial"/>
              </a:rPr>
              <a:t>Discovers matching idle surplus across sister depots (e.g., ONGC Hazira having flanges IOCL Panipat needs), preventing redundant spot purchases.</a:t>
            </a:r>
          </a:p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• </a:t>
            </a:r>
            <a:r>
              <a:rPr sz="1300" b="1" dirty="0">
                <a:latin typeface="Arial"/>
              </a:rPr>
              <a:t>Consolidated </a:t>
            </a:r>
            <a:r>
              <a:rPr sz="1300" b="1" dirty="0" err="1">
                <a:latin typeface="Arial"/>
              </a:rPr>
              <a:t>GeM</a:t>
            </a:r>
            <a:r>
              <a:rPr sz="1300" b="1" dirty="0">
                <a:latin typeface="Arial"/>
              </a:rPr>
              <a:t> Procurement: </a:t>
            </a:r>
            <a:r>
              <a:rPr sz="1300" dirty="0">
                <a:latin typeface="Arial"/>
              </a:rPr>
              <a:t>Standardized canonical master records aggregate enterprise demand to unlock bulk volume discounts through centralized public tenders.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3A8F68-091C-8E02-1406-29C3ADAA8E82}"/>
              </a:ext>
            </a:extLst>
          </p:cNvPr>
          <p:cNvSpPr txBox="1"/>
          <p:nvPr/>
        </p:nvSpPr>
        <p:spPr>
          <a:xfrm>
            <a:off x="8155141" y="1439199"/>
            <a:ext cx="3632219" cy="4389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latin typeface="Arial"/>
              </a:rPr>
              <a:t>Innovation &amp; Uniqueness</a:t>
            </a:r>
          </a:p>
          <a:p>
            <a:pPr>
              <a:spcAft>
                <a:spcPts val="1000"/>
              </a:spcAft>
            </a:pPr>
            <a:r>
              <a:rPr sz="1300">
                <a:latin typeface="Arial"/>
              </a:rPr>
              <a:t>• </a:t>
            </a:r>
            <a:r>
              <a:rPr sz="1300" b="1">
                <a:latin typeface="Arial"/>
              </a:rPr>
              <a:t>Point-of-Origin Document Intake: </a:t>
            </a:r>
            <a:r>
              <a:rPr sz="1300">
                <a:latin typeface="Arial"/>
              </a:rPr>
              <a:t>Dual-path parser (PyMuPDF + PP-OCRv4) extracts mechanical specs directly from scanned Mill Test Certificates (MTCs) and delivery challans.</a:t>
            </a:r>
          </a:p>
          <a:p>
            <a:pPr>
              <a:spcAft>
                <a:spcPts val="1000"/>
              </a:spcAft>
            </a:pPr>
            <a:r>
              <a:rPr sz="1300">
                <a:latin typeface="Arial"/>
              </a:rPr>
              <a:t>• </a:t>
            </a:r>
            <a:r>
              <a:rPr sz="1300" b="1">
                <a:latin typeface="Arial"/>
              </a:rPr>
              <a:t>Pre-Procurement Radar: </a:t>
            </a:r>
            <a:r>
              <a:rPr sz="1300">
                <a:latin typeface="Arial"/>
              </a:rPr>
              <a:t>Alerts procurement officers to identical idle inventory at nearby CPSE facilities before raising a new purchase requisition indent.</a:t>
            </a:r>
          </a:p>
          <a:p>
            <a:pPr>
              <a:spcAft>
                <a:spcPts val="1000"/>
              </a:spcAft>
            </a:pPr>
            <a:r>
              <a:rPr sz="1300">
                <a:latin typeface="Arial"/>
              </a:rPr>
              <a:t>• </a:t>
            </a:r>
            <a:r>
              <a:rPr sz="1300" b="1">
                <a:latin typeface="Arial"/>
              </a:rPr>
              <a:t>Vectorized Deterministic Rules: </a:t>
            </a:r>
            <a:r>
              <a:rPr sz="1300">
                <a:latin typeface="Arial"/>
              </a:rPr>
              <a:t>Pure-Python Polars/NumPy validation enforces zero tolerance on size, pressure, and metallurgy upgrades, categorizing matches into Tier-1, Tier-2, and Tier-3.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F09F717-F570-E8E8-253E-3EF795D02E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392109"/>
              </p:ext>
            </p:extLst>
          </p:nvPr>
        </p:nvGraphicFramePr>
        <p:xfrm>
          <a:off x="110832" y="2842735"/>
          <a:ext cx="535246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4154">
                  <a:extLst>
                    <a:ext uri="{9D8B030D-6E8A-4147-A177-3AD203B41FA5}">
                      <a16:colId xmlns:a16="http://schemas.microsoft.com/office/drawing/2014/main" val="3462056706"/>
                    </a:ext>
                  </a:extLst>
                </a:gridCol>
                <a:gridCol w="1784154">
                  <a:extLst>
                    <a:ext uri="{9D8B030D-6E8A-4147-A177-3AD203B41FA5}">
                      <a16:colId xmlns:a16="http://schemas.microsoft.com/office/drawing/2014/main" val="4132347978"/>
                    </a:ext>
                  </a:extLst>
                </a:gridCol>
                <a:gridCol w="1784154">
                  <a:extLst>
                    <a:ext uri="{9D8B030D-6E8A-4147-A177-3AD203B41FA5}">
                      <a16:colId xmlns:a16="http://schemas.microsoft.com/office/drawing/2014/main" val="3752152746"/>
                    </a:ext>
                  </a:extLst>
                </a:gridCol>
              </a:tblGrid>
              <a:tr h="318776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Framework / Technology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latin typeface="Arial"/>
                        </a:rPr>
                        <a:t>Role &amp; Functionality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8152691"/>
                  </a:ext>
                </a:extLst>
              </a:tr>
              <a:tr h="409855">
                <a:tc>
                  <a:txBody>
                    <a:bodyPr/>
                    <a:lstStyle/>
                    <a:p>
                      <a:r>
                        <a:rPr sz="1000" b="1">
                          <a:latin typeface="Arial"/>
                        </a:rPr>
                        <a:t>API &amp; Gateway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Arial"/>
                        </a:rPr>
                        <a:t>FastAPI, Pydantic v2, SQLAlchemy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Arial"/>
                        </a:rPr>
                        <a:t>Stateless REST routing, schema validation, RBAC &amp; audit logging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7851554"/>
                  </a:ext>
                </a:extLst>
              </a:tr>
              <a:tr h="523704">
                <a:tc>
                  <a:txBody>
                    <a:bodyPr/>
                    <a:lstStyle/>
                    <a:p>
                      <a:r>
                        <a:rPr sz="1000" b="1">
                          <a:latin typeface="Arial"/>
                        </a:rPr>
                        <a:t>AI &amp; Extraction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Arial"/>
                        </a:rPr>
                        <a:t>PaddleOCR (PP-OCRv4), PyMuPDF, DeBERTa-v3, BGE-M3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Arial"/>
                        </a:rPr>
                        <a:t>Dual-path MTC extraction, slot-filling NER &amp; dense vector candidate retrieval (&lt;15ms)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0955540"/>
                  </a:ext>
                </a:extLst>
              </a:tr>
              <a:tr h="523704">
                <a:tc>
                  <a:txBody>
                    <a:bodyPr/>
                    <a:lstStyle/>
                    <a:p>
                      <a:r>
                        <a:rPr sz="1000" b="1">
                          <a:latin typeface="Arial"/>
                        </a:rPr>
                        <a:t>Deterministic 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Arial"/>
                        </a:rPr>
                        <a:t>Vectorized Python (Polars, NumPy)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Arial"/>
                        </a:rPr>
                        <a:t>Sub-millisecond ASME B16.5 &amp; ASTM alloy constraint checks and tiering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4973849"/>
                  </a:ext>
                </a:extLst>
              </a:tr>
              <a:tr h="523704">
                <a:tc>
                  <a:txBody>
                    <a:bodyPr/>
                    <a:lstStyle/>
                    <a:p>
                      <a:r>
                        <a:rPr sz="1000" b="1">
                          <a:latin typeface="Arial"/>
                        </a:rPr>
                        <a:t>Graph &amp; Vector 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Arial"/>
                        </a:rPr>
                        <a:t>Neo4j (Bolt Driver), Qdrant, PostgreSQL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Arial"/>
                        </a:rPr>
                        <a:t>Cross-CPSE UNSPSC v26 / GeM ontology, HNSW vector index &amp; transaction audit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14750"/>
                  </a:ext>
                </a:extLst>
              </a:tr>
              <a:tr h="523704">
                <a:tc>
                  <a:txBody>
                    <a:bodyPr/>
                    <a:lstStyle/>
                    <a:p>
                      <a:r>
                        <a:rPr sz="1000" b="1">
                          <a:latin typeface="Arial"/>
                        </a:rPr>
                        <a:t>Client Portal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Arial"/>
                        </a:rPr>
                        <a:t>Next.js 16, React 19, Tailwind CSS, shadcn/ui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latin typeface="Arial"/>
                        </a:rPr>
                        <a:t>Catalog Deduplication Studio, HITL Triage Queue &amp; Procurement Analytics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309583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C212B9A-4146-CE53-D48F-3D7EE257766B}"/>
              </a:ext>
            </a:extLst>
          </p:cNvPr>
          <p:cNvSpPr txBox="1"/>
          <p:nvPr/>
        </p:nvSpPr>
        <p:spPr>
          <a:xfrm>
            <a:off x="1372826" y="2489140"/>
            <a:ext cx="2828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Anticipated Tech Stack</a:t>
            </a:r>
            <a:endParaRPr lang="en-IN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ACE728-8D13-C781-ECBE-E89351B92C4B}"/>
              </a:ext>
            </a:extLst>
          </p:cNvPr>
          <p:cNvSpPr txBox="1"/>
          <p:nvPr/>
        </p:nvSpPr>
        <p:spPr>
          <a:xfrm>
            <a:off x="6204109" y="2489140"/>
            <a:ext cx="5066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Implementation Methodology &amp; Architecture</a:t>
            </a:r>
            <a:endParaRPr lang="en-IN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048E56-50F7-13C7-78EF-1FB5E8D33003}"/>
              </a:ext>
            </a:extLst>
          </p:cNvPr>
          <p:cNvSpPr txBox="1"/>
          <p:nvPr/>
        </p:nvSpPr>
        <p:spPr>
          <a:xfrm>
            <a:off x="5504862" y="2895779"/>
            <a:ext cx="646547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sz="1200" dirty="0">
                <a:latin typeface="Arial"/>
              </a:rPr>
              <a:t>• </a:t>
            </a:r>
            <a:r>
              <a:rPr sz="1200" b="1" dirty="0">
                <a:latin typeface="Arial"/>
              </a:rPr>
              <a:t>Contract-First Modular Architecture: </a:t>
            </a:r>
            <a:r>
              <a:rPr sz="1200" dirty="0" err="1">
                <a:latin typeface="Arial"/>
              </a:rPr>
              <a:t>FastAPI</a:t>
            </a:r>
            <a:r>
              <a:rPr sz="1200" dirty="0">
                <a:latin typeface="Arial"/>
              </a:rPr>
              <a:t> services, ML pipelines, and client portals interact via strictly typed </a:t>
            </a:r>
            <a:r>
              <a:rPr sz="1200" dirty="0" err="1">
                <a:latin typeface="Arial"/>
              </a:rPr>
              <a:t>Pydantic</a:t>
            </a:r>
            <a:r>
              <a:rPr sz="1200" dirty="0">
                <a:latin typeface="Arial"/>
              </a:rPr>
              <a:t> v2 data contracts, preventing build drag.</a:t>
            </a:r>
          </a:p>
          <a:p>
            <a:pPr>
              <a:spcAft>
                <a:spcPts val="800"/>
              </a:spcAft>
            </a:pPr>
            <a:r>
              <a:rPr sz="1200" dirty="0">
                <a:latin typeface="Arial"/>
              </a:rPr>
              <a:t>• </a:t>
            </a:r>
            <a:r>
              <a:rPr sz="1200" b="1" dirty="0">
                <a:latin typeface="Arial"/>
              </a:rPr>
              <a:t>Air-Gapped Sovereign Deployment: </a:t>
            </a:r>
            <a:r>
              <a:rPr sz="1200" dirty="0">
                <a:latin typeface="Arial"/>
              </a:rPr>
              <a:t>Zero reliance on external APIs; fully deployable on internal NIC/RailTel government private clouds using open-source models.</a:t>
            </a:r>
          </a:p>
          <a:p>
            <a:pPr>
              <a:spcAft>
                <a:spcPts val="800"/>
              </a:spcAft>
            </a:pPr>
            <a:r>
              <a:rPr sz="1200" dirty="0">
                <a:latin typeface="Arial"/>
              </a:rPr>
              <a:t>• </a:t>
            </a:r>
            <a:r>
              <a:rPr sz="1200" b="1" dirty="0">
                <a:latin typeface="Arial"/>
              </a:rPr>
              <a:t>Human-in-the-Loop (HITL) Active Learning: </a:t>
            </a:r>
            <a:r>
              <a:rPr sz="1200" dirty="0">
                <a:latin typeface="Arial"/>
              </a:rPr>
              <a:t>Auto-links high-confidence matches (&gt;=90%); routes borderline cases (70%-90%) to catalog officers with side-by-side invariant checks.</a:t>
            </a:r>
          </a:p>
          <a:p>
            <a:pPr>
              <a:spcAft>
                <a:spcPts val="800"/>
              </a:spcAft>
            </a:pPr>
            <a:r>
              <a:rPr sz="1200" dirty="0">
                <a:latin typeface="Arial"/>
              </a:rPr>
              <a:t>• </a:t>
            </a:r>
            <a:r>
              <a:rPr sz="1200" b="1" dirty="0">
                <a:latin typeface="Arial"/>
              </a:rPr>
              <a:t>Non-Invasive Read-Only Connectors: </a:t>
            </a:r>
            <a:r>
              <a:rPr sz="1200" dirty="0">
                <a:latin typeface="Arial"/>
              </a:rPr>
              <a:t>Ingests SAP MM (.xlsx/csv) and Oracle dumps off-peak via read-only hooks without disrupting live transactional ERP operations.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195A06F-4873-B227-9F5E-45499FA77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773" y="1175960"/>
            <a:ext cx="11159453" cy="137426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6AEB155-E33F-7EEF-B612-1BB0172B4CD3}"/>
              </a:ext>
            </a:extLst>
          </p:cNvPr>
          <p:cNvSpPr txBox="1"/>
          <p:nvPr/>
        </p:nvSpPr>
        <p:spPr>
          <a:xfrm>
            <a:off x="404640" y="1439199"/>
            <a:ext cx="363221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sz="1500" b="1">
                <a:latin typeface="Arial"/>
              </a:rPr>
              <a:t>Technical Scalability
</a:t>
            </a:r>
            <a:r>
              <a:rPr sz="1200">
                <a:latin typeface="Arial"/>
              </a:rPr>
              <a:t>HNSW vector indexing in Qdrant delivers sub-15ms candidate retrieval across 10M+ SKUs; vectorized Polars rules ensure instant ASME safety checks.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D4F02E-095C-4461-A3CE-3A1509B36CDD}"/>
              </a:ext>
            </a:extLst>
          </p:cNvPr>
          <p:cNvSpPr txBox="1"/>
          <p:nvPr/>
        </p:nvSpPr>
        <p:spPr>
          <a:xfrm>
            <a:off x="4279890" y="1439199"/>
            <a:ext cx="3632219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sz="1500" b="1">
                <a:latin typeface="Arial"/>
              </a:rPr>
              <a:t>Operational Adaptability
</a:t>
            </a:r>
            <a:r>
              <a:rPr sz="1200">
                <a:latin typeface="Arial"/>
              </a:rPr>
              <a:t>Dual-path document engine parses native digital PDFs (&lt;50ms) and low-res scanned challans; web studio enables rapid zero-training adoption by depot staff.</a:t>
            </a:r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097F19-633B-C852-09A8-8A190522DEF6}"/>
              </a:ext>
            </a:extLst>
          </p:cNvPr>
          <p:cNvSpPr txBox="1"/>
          <p:nvPr/>
        </p:nvSpPr>
        <p:spPr>
          <a:xfrm>
            <a:off x="8155141" y="1439199"/>
            <a:ext cx="3632219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500" b="1">
                <a:latin typeface="Arial"/>
              </a:rPr>
              <a:t>Commercial Viability
</a:t>
            </a:r>
            <a:r>
              <a:rPr sz="1200">
                <a:latin typeface="Arial"/>
              </a:rPr>
              <a:t>Integrated inter-depot requisition workflow complies with MoPNG public procurement norms and GeM frameworks, freeing dormant capital.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0FDDD56-5F93-667C-C522-4C4FDDBC0F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3529667"/>
              </p:ext>
            </p:extLst>
          </p:nvPr>
        </p:nvGraphicFramePr>
        <p:xfrm>
          <a:off x="404640" y="3184269"/>
          <a:ext cx="11382720" cy="27544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1771">
                  <a:extLst>
                    <a:ext uri="{9D8B030D-6E8A-4147-A177-3AD203B41FA5}">
                      <a16:colId xmlns:a16="http://schemas.microsoft.com/office/drawing/2014/main" val="3837357606"/>
                    </a:ext>
                  </a:extLst>
                </a:gridCol>
                <a:gridCol w="4417799">
                  <a:extLst>
                    <a:ext uri="{9D8B030D-6E8A-4147-A177-3AD203B41FA5}">
                      <a16:colId xmlns:a16="http://schemas.microsoft.com/office/drawing/2014/main" val="1540384696"/>
                    </a:ext>
                  </a:extLst>
                </a:gridCol>
                <a:gridCol w="5123150">
                  <a:extLst>
                    <a:ext uri="{9D8B030D-6E8A-4147-A177-3AD203B41FA5}">
                      <a16:colId xmlns:a16="http://schemas.microsoft.com/office/drawing/2014/main" val="2494934458"/>
                    </a:ext>
                  </a:extLst>
                </a:gridCol>
              </a:tblGrid>
              <a:tr h="541248">
                <a:tc>
                  <a:txBody>
                    <a:bodyPr/>
                    <a:lstStyle/>
                    <a:p>
                      <a:r>
                        <a:rPr sz="1200" b="1" dirty="0">
                          <a:solidFill>
                            <a:schemeClr val="tx1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dirty="0">
                          <a:solidFill>
                            <a:schemeClr val="tx1"/>
                          </a:solidFill>
                          <a:latin typeface="Arial"/>
                        </a:rPr>
                        <a:t>Identified Challenge &amp; Risk</a:t>
                      </a:r>
                    </a:p>
                  </a:txBody>
                  <a:tcPr marL="63500" marR="635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dirty="0">
                          <a:solidFill>
                            <a:schemeClr val="tx1"/>
                          </a:solidFill>
                          <a:latin typeface="Arial"/>
                        </a:rPr>
                        <a:t>Strategic Mitigation Strategy</a:t>
                      </a:r>
                    </a:p>
                  </a:txBody>
                  <a:tcPr marL="63500" marR="635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118762"/>
                  </a:ext>
                </a:extLst>
              </a:tr>
              <a:tr h="589501">
                <a:tc>
                  <a:txBody>
                    <a:bodyPr/>
                    <a:lstStyle/>
                    <a:p>
                      <a:r>
                        <a:rPr sz="1000" b="1">
                          <a:latin typeface="Arial"/>
                        </a:rPr>
                        <a:t>Safety &amp; Reliability
(Critical Process Spares)</a:t>
                      </a: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Arial"/>
                        </a:rPr>
                        <a:t>False-positive semantic matches in safety-critical parts (e.g., carbon steel flange substituted into a high-temp sour corrosive line).</a:t>
                      </a:r>
                    </a:p>
                  </a:txBody>
                  <a:tcPr marL="63500" marR="635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Arial"/>
                        </a:rPr>
                        <a:t>Deterministic ASME/ASTM Constraint Layer: Pure-Python vectorized rules strictly enforce zero-tolerance on size, pressure class, and metallurgy upgrade limits, overriding vector similarity.</a:t>
                      </a:r>
                    </a:p>
                  </a:txBody>
                  <a:tcPr marL="63500" marR="635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2542135"/>
                  </a:ext>
                </a:extLst>
              </a:tr>
              <a:tr h="541248">
                <a:tc>
                  <a:txBody>
                    <a:bodyPr/>
                    <a:lstStyle/>
                    <a:p>
                      <a:r>
                        <a:rPr sz="1000" b="1">
                          <a:latin typeface="Arial"/>
                        </a:rPr>
                        <a:t>Operational Friction
(Site User Adoption)</a:t>
                      </a: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latin typeface="Arial"/>
                        </a:rPr>
                        <a:t>Procurement and site engineers bypass complex, multi-field manual forms in high-pressure plant maintenance scenarios.</a:t>
                      </a:r>
                    </a:p>
                  </a:txBody>
                  <a:tcPr marL="63500" marR="635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Arial"/>
                        </a:rPr>
                        <a:t>Zero-Typing Intake &amp; HITL Validation: Automated OCR parsing of MTCs/challans auto-fills technical slots in &lt;30s; engineers only confirm color-coded visual confidence badges.</a:t>
                      </a:r>
                    </a:p>
                  </a:txBody>
                  <a:tcPr marL="63500" marR="635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0893405"/>
                  </a:ext>
                </a:extLst>
              </a:tr>
              <a:tr h="541248">
                <a:tc>
                  <a:txBody>
                    <a:bodyPr/>
                    <a:lstStyle/>
                    <a:p>
                      <a:r>
                        <a:rPr sz="1000" b="1">
                          <a:latin typeface="Arial"/>
                        </a:rPr>
                        <a:t>Data Confidentiality
(Inter-CPSE Commercials)</a:t>
                      </a: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Arial"/>
                        </a:rPr>
                        <a:t>CPSEs are reluctant to expose proprietary vendor pricing, discounts, and commercial terms to peer public sector enterprises.</a:t>
                      </a:r>
                    </a:p>
                  </a:txBody>
                  <a:tcPr marL="63500" marR="635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Arial"/>
                        </a:rPr>
                        <a:t>Attribute-Level Federated Discovery: Cross-CPSE search reveals only physical engineering specifications and depot inventory counts; commercial pricing remains cryptographically masked.</a:t>
                      </a:r>
                    </a:p>
                  </a:txBody>
                  <a:tcPr marL="63500" marR="635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366037"/>
                  </a:ext>
                </a:extLst>
              </a:tr>
              <a:tr h="541252">
                <a:tc>
                  <a:txBody>
                    <a:bodyPr/>
                    <a:lstStyle/>
                    <a:p>
                      <a:r>
                        <a:rPr sz="1000" b="1">
                          <a:latin typeface="Arial"/>
                        </a:rPr>
                        <a:t>ERP Stability
(IT Infrastructure Risk)</a:t>
                      </a: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Arial"/>
                        </a:rPr>
                        <a:t>Enterprise resistance to modifying live transactional tables or risking downtime in production SAP MM/Oracle databases.</a:t>
                      </a:r>
                    </a:p>
                  </a:txBody>
                  <a:tcPr marL="63500" marR="635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latin typeface="Arial"/>
                        </a:rPr>
                        <a:t>Non-Invasive Read-Only Interlingua: Operates as an external metadata discovery overlay; underlying legacy ERP database schemas remain 100% untouched.</a:t>
                      </a:r>
                    </a:p>
                  </a:txBody>
                  <a:tcPr marL="63500" marR="635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9085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F0D63C-6CE7-C20B-78D3-5C34143549D7}"/>
              </a:ext>
            </a:extLst>
          </p:cNvPr>
          <p:cNvSpPr txBox="1"/>
          <p:nvPr/>
        </p:nvSpPr>
        <p:spPr>
          <a:xfrm>
            <a:off x="609600" y="1400092"/>
            <a:ext cx="3632219" cy="4389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1000"/>
              </a:spcAft>
            </a:pPr>
            <a:r>
              <a:rPr sz="1600" b="1">
                <a:latin typeface="Arial"/>
              </a:rPr>
              <a:t>Target Audience &amp; Operations</a:t>
            </a:r>
          </a:p>
          <a:p>
            <a:pPr>
              <a:spcAft>
                <a:spcPts val="800"/>
              </a:spcAft>
            </a:pPr>
            <a:r>
              <a:rPr sz="1200">
                <a:latin typeface="Arial"/>
              </a:rPr>
              <a:t>• </a:t>
            </a:r>
            <a:r>
              <a:rPr sz="1200" b="1">
                <a:latin typeface="Arial"/>
              </a:rPr>
              <a:t>Primary Beneficiaries: </a:t>
            </a:r>
            <a:r>
              <a:rPr sz="1200">
                <a:latin typeface="Arial"/>
              </a:rPr>
              <a:t>MoPNG, CPSEs (IOCL, ONGC, BPCL, GAIL, HPCL), refinery maintenance engineers, and depot procurement managers.</a:t>
            </a:r>
          </a:p>
          <a:p>
            <a:pPr>
              <a:spcAft>
                <a:spcPts val="800"/>
              </a:spcAft>
            </a:pPr>
            <a:r>
              <a:rPr sz="1200">
                <a:latin typeface="Arial"/>
              </a:rPr>
              <a:t>• </a:t>
            </a:r>
            <a:r>
              <a:rPr sz="1200" b="1">
                <a:latin typeface="Arial"/>
              </a:rPr>
              <a:t>Fast Emergency Turnaround: </a:t>
            </a:r>
            <a:r>
              <a:rPr sz="1200">
                <a:latin typeface="Arial"/>
              </a:rPr>
              <a:t>Reduces critical spare discovery and transfer from 4–6 weeks of public tendering to under 48 hours via sister depots.</a:t>
            </a:r>
          </a:p>
          <a:p>
            <a:pPr>
              <a:spcAft>
                <a:spcPts val="800"/>
              </a:spcAft>
            </a:pPr>
            <a:r>
              <a:rPr sz="1200">
                <a:latin typeface="Arial"/>
              </a:rPr>
              <a:t>• </a:t>
            </a:r>
            <a:r>
              <a:rPr sz="1200" b="1">
                <a:latin typeface="Arial"/>
              </a:rPr>
              <a:t>Catalog De-cluttering: </a:t>
            </a:r>
            <a:r>
              <a:rPr sz="1200">
                <a:latin typeface="Arial"/>
              </a:rPr>
              <a:t>Eliminates up to 35% duplicate material codes across legacy SAP MM / Oracle systems, establishing clean master records.</a:t>
            </a:r>
          </a:p>
          <a:p>
            <a:pPr>
              <a:spcAft>
                <a:spcPts val="800"/>
              </a:spcAft>
            </a:pPr>
            <a:r>
              <a:rPr sz="1200">
                <a:latin typeface="Arial"/>
              </a:rPr>
              <a:t>• </a:t>
            </a:r>
            <a:r>
              <a:rPr sz="1200" b="1">
                <a:latin typeface="Arial"/>
              </a:rPr>
              <a:t>Refinery Uptime Assurance: </a:t>
            </a:r>
            <a:r>
              <a:rPr sz="1200">
                <a:latin typeface="Arial"/>
              </a:rPr>
              <a:t>Rapid spare locator prevents costly unplanned plant shutdowns ($50k+/hr outage costs in hydrocarbon processing).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B7B7C7-7EC9-CC35-1F90-FC7B03735321}"/>
              </a:ext>
            </a:extLst>
          </p:cNvPr>
          <p:cNvSpPr txBox="1"/>
          <p:nvPr/>
        </p:nvSpPr>
        <p:spPr>
          <a:xfrm>
            <a:off x="4484850" y="1400092"/>
            <a:ext cx="3632219" cy="4389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1000"/>
              </a:spcAft>
            </a:pPr>
            <a:r>
              <a:rPr sz="1600" b="1">
                <a:latin typeface="Arial"/>
              </a:rPr>
              <a:t>Economic &amp; Financial Impact</a:t>
            </a:r>
          </a:p>
          <a:p>
            <a:pPr>
              <a:spcAft>
                <a:spcPts val="800"/>
              </a:spcAft>
            </a:pPr>
            <a:r>
              <a:rPr sz="1200">
                <a:latin typeface="Arial"/>
              </a:rPr>
              <a:t>• </a:t>
            </a:r>
            <a:r>
              <a:rPr sz="1200" b="1">
                <a:latin typeface="Arial"/>
              </a:rPr>
              <a:t>Working Capital Unlocked: </a:t>
            </a:r>
            <a:r>
              <a:rPr sz="1200">
                <a:latin typeface="Arial"/>
              </a:rPr>
              <a:t>Frees an estimated 15%–25% of dormant inventory capital (₹1,500+ Cr across MoPNG CPSEs) by mobilizing idle surplus.</a:t>
            </a:r>
          </a:p>
          <a:p>
            <a:pPr>
              <a:spcAft>
                <a:spcPts val="800"/>
              </a:spcAft>
            </a:pPr>
            <a:r>
              <a:rPr sz="1200">
                <a:latin typeface="Arial"/>
              </a:rPr>
              <a:t>• </a:t>
            </a:r>
            <a:r>
              <a:rPr sz="1200" b="1">
                <a:latin typeface="Arial"/>
              </a:rPr>
              <a:t>Bulk GeM Sourcing Savings: </a:t>
            </a:r>
            <a:r>
              <a:rPr sz="1200">
                <a:latin typeface="Arial"/>
              </a:rPr>
              <a:t>Harmonized canonical codes aggregate cross-CPSE demand, unlocking 8%–15% bulk procurement discounts on common MRO items.</a:t>
            </a:r>
          </a:p>
          <a:p>
            <a:pPr>
              <a:spcAft>
                <a:spcPts val="800"/>
              </a:spcAft>
            </a:pPr>
            <a:r>
              <a:rPr sz="1200">
                <a:latin typeface="Arial"/>
              </a:rPr>
              <a:t>• </a:t>
            </a:r>
            <a:r>
              <a:rPr sz="1200" b="1">
                <a:latin typeface="Arial"/>
              </a:rPr>
              <a:t>Avoided Spot-Purchase Premiums: </a:t>
            </a:r>
            <a:r>
              <a:rPr sz="1200">
                <a:latin typeface="Arial"/>
              </a:rPr>
              <a:t>Prevents expensive spot-market emergency purchases and air-freight logistics during forced unit outages.</a:t>
            </a:r>
          </a:p>
          <a:p>
            <a:pPr>
              <a:spcAft>
                <a:spcPts val="800"/>
              </a:spcAft>
            </a:pPr>
            <a:r>
              <a:rPr sz="1200">
                <a:latin typeface="Arial"/>
              </a:rPr>
              <a:t>• </a:t>
            </a:r>
            <a:r>
              <a:rPr sz="1200" b="1">
                <a:latin typeface="Arial"/>
              </a:rPr>
              <a:t>Optimized Warehouse Holding: </a:t>
            </a:r>
            <a:r>
              <a:rPr sz="1200">
                <a:latin typeface="Arial"/>
              </a:rPr>
              <a:t>Reduces inventory carrying costs (storage, insurance, obsolescence) by sharing slow-moving insurance spares.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744AD4-D65B-A369-65B6-C53EC3EB0ADC}"/>
              </a:ext>
            </a:extLst>
          </p:cNvPr>
          <p:cNvSpPr txBox="1"/>
          <p:nvPr/>
        </p:nvSpPr>
        <p:spPr>
          <a:xfrm>
            <a:off x="8360101" y="1400092"/>
            <a:ext cx="3632219" cy="4389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latin typeface="Arial"/>
              </a:rPr>
              <a:t>Social, Strategic &amp; Green</a:t>
            </a:r>
          </a:p>
          <a:p>
            <a:pPr>
              <a:spcAft>
                <a:spcPts val="800"/>
              </a:spcAft>
            </a:pPr>
            <a:r>
              <a:rPr sz="1200">
                <a:latin typeface="Arial"/>
              </a:rPr>
              <a:t>• </a:t>
            </a:r>
            <a:r>
              <a:rPr sz="1200" b="1">
                <a:latin typeface="Arial"/>
              </a:rPr>
              <a:t>Aatmanirbhar Bharat &amp; Energy Security: </a:t>
            </a:r>
            <a:r>
              <a:rPr sz="1200">
                <a:latin typeface="Arial"/>
              </a:rPr>
              <a:t>Builds sovereign Digital Public Infrastructure for Indian hydrocarbon materials, cutting foreign spot dependencies.</a:t>
            </a:r>
          </a:p>
          <a:p>
            <a:pPr>
              <a:spcAft>
                <a:spcPts val="800"/>
              </a:spcAft>
            </a:pPr>
            <a:r>
              <a:rPr sz="1200">
                <a:latin typeface="Arial"/>
              </a:rPr>
              <a:t>• </a:t>
            </a:r>
            <a:r>
              <a:rPr sz="1200" b="1">
                <a:latin typeface="Arial"/>
              </a:rPr>
              <a:t>Zero Industrial Accidents: </a:t>
            </a:r>
            <a:r>
              <a:rPr sz="1200">
                <a:latin typeface="Arial"/>
              </a:rPr>
              <a:t>Strict ASME/ASTM engineering guardrails eliminate mismatched flanges/valves, preventing catastrophic leaks and fires.</a:t>
            </a:r>
          </a:p>
          <a:p>
            <a:pPr>
              <a:spcAft>
                <a:spcPts val="800"/>
              </a:spcAft>
            </a:pPr>
            <a:r>
              <a:rPr sz="1200">
                <a:latin typeface="Arial"/>
              </a:rPr>
              <a:t>• </a:t>
            </a:r>
            <a:r>
              <a:rPr sz="1200" b="1">
                <a:latin typeface="Arial"/>
              </a:rPr>
              <a:t>Reduced Carbon Footprint: </a:t>
            </a:r>
            <a:r>
              <a:rPr sz="1200">
                <a:latin typeface="Arial"/>
              </a:rPr>
              <a:t>Mobilizing existing domestic idle inventory eliminates unnecessary steel manufacturing and redundant freight emissions.</a:t>
            </a:r>
          </a:p>
          <a:p>
            <a:pPr>
              <a:spcAft>
                <a:spcPts val="800"/>
              </a:spcAft>
            </a:pPr>
            <a:r>
              <a:rPr sz="1200">
                <a:latin typeface="Arial"/>
              </a:rPr>
              <a:t>• </a:t>
            </a:r>
            <a:r>
              <a:rPr sz="1200" b="1">
                <a:latin typeface="Arial"/>
              </a:rPr>
              <a:t>Inter-CPSE Harmonization: </a:t>
            </a:r>
            <a:r>
              <a:rPr sz="1200">
                <a:latin typeface="Arial"/>
              </a:rPr>
              <a:t>Pioneers cross-ministerial cooperation and shared resource governance across India's public sector giants.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773" y="1400963"/>
            <a:ext cx="11539498" cy="35137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R="0" lvl="0" algn="just" defTabSz="4572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ClrTx/>
              <a:buSzTx/>
              <a:tabLst/>
              <a:defRPr/>
            </a:pPr>
            <a:r>
              <a:rPr sz="1300" b="1" dirty="0">
                <a:solidFill>
                  <a:srgbClr val="003366"/>
                </a:solidFill>
                <a:latin typeface="Arial"/>
              </a:rPr>
              <a:t>1. Engineering Standards &amp; Mechanical Specifications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just">
              <a:spcAft>
                <a:spcPts val="200"/>
              </a:spcAft>
            </a:pPr>
            <a:r>
              <a:rPr sz="1200" dirty="0">
                <a:latin typeface="Arial"/>
              </a:rPr>
              <a:t>   • </a:t>
            </a:r>
            <a:r>
              <a:rPr sz="1200" b="1" dirty="0">
                <a:latin typeface="Arial"/>
              </a:rPr>
              <a:t>ASME B16.5 (2020): </a:t>
            </a:r>
            <a:r>
              <a:rPr sz="1200" dirty="0">
                <a:latin typeface="Arial"/>
              </a:rPr>
              <a:t>Pipe Flanges and Flanged Fittings (NPS 1/2 through NPS 24 Metric/Inch Standard) - Dimensional &amp; Pressure Ratings.</a:t>
            </a:r>
          </a:p>
          <a:p>
            <a:pPr algn="just">
              <a:spcAft>
                <a:spcPts val="200"/>
              </a:spcAft>
            </a:pPr>
            <a:r>
              <a:rPr sz="1200" dirty="0">
                <a:latin typeface="Arial"/>
              </a:rPr>
              <a:t>   • </a:t>
            </a:r>
            <a:r>
              <a:rPr sz="1200" b="1" dirty="0">
                <a:latin typeface="Arial"/>
              </a:rPr>
              <a:t>ASTM Material Specifications: </a:t>
            </a:r>
            <a:r>
              <a:rPr sz="1200" dirty="0">
                <a:latin typeface="Arial"/>
              </a:rPr>
              <a:t>ASTM A105 (Carbon Steel), ASTM A182 (Forged Alloy/SS), ASTM A216 (WCB Castings), ASTM A350 (LF2 Low-Temp).</a:t>
            </a:r>
          </a:p>
          <a:p>
            <a:pPr algn="just">
              <a:spcAft>
                <a:spcPts val="200"/>
              </a:spcAft>
            </a:pPr>
            <a:r>
              <a:rPr sz="1200" dirty="0">
                <a:latin typeface="Arial"/>
              </a:rPr>
              <a:t>   • </a:t>
            </a:r>
            <a:r>
              <a:rPr sz="1200" b="1" dirty="0">
                <a:latin typeface="Arial"/>
              </a:rPr>
              <a:t>API Specifications: </a:t>
            </a:r>
            <a:r>
              <a:rPr sz="1200" dirty="0">
                <a:latin typeface="Arial"/>
              </a:rPr>
              <a:t>API 6D (Specification for Pipeline Valves) and API 600 (Steel Gate Valves - Flanged/Butt-Welding).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dirty="0">
                <a:solidFill>
                  <a:srgbClr val="003366"/>
                </a:solidFill>
                <a:latin typeface="Arial"/>
              </a:rPr>
              <a:t>2. Machine Learning, NLP &amp; Information Retrieval</a:t>
            </a:r>
          </a:p>
          <a:p>
            <a:pPr>
              <a:spcAft>
                <a:spcPts val="200"/>
              </a:spcAft>
            </a:pPr>
            <a:r>
              <a:rPr sz="1200" dirty="0">
                <a:latin typeface="Arial"/>
              </a:rPr>
              <a:t>   • </a:t>
            </a:r>
            <a:r>
              <a:rPr sz="1200" b="1" dirty="0">
                <a:latin typeface="Arial"/>
              </a:rPr>
              <a:t>DeBERTa-v3: </a:t>
            </a:r>
            <a:r>
              <a:rPr sz="1200" dirty="0">
                <a:latin typeface="Arial"/>
              </a:rPr>
              <a:t>He, P., et al. (ICLR 2021). 'DeBERTaV3: Improving </a:t>
            </a:r>
            <a:r>
              <a:rPr sz="1200" dirty="0" err="1">
                <a:latin typeface="Arial"/>
              </a:rPr>
              <a:t>DeBERTa</a:t>
            </a:r>
            <a:r>
              <a:rPr sz="1200" dirty="0">
                <a:latin typeface="Arial"/>
              </a:rPr>
              <a:t> using ELECTRA-Style Pre-Training' (Domain NER Token Classification).</a:t>
            </a:r>
          </a:p>
          <a:p>
            <a:pPr>
              <a:spcAft>
                <a:spcPts val="200"/>
              </a:spcAft>
            </a:pPr>
            <a:r>
              <a:rPr sz="1200" dirty="0">
                <a:latin typeface="Arial"/>
              </a:rPr>
              <a:t>   • </a:t>
            </a:r>
            <a:r>
              <a:rPr sz="1200" b="1" dirty="0">
                <a:latin typeface="Arial"/>
              </a:rPr>
              <a:t>BGE-M3 Embeddings: </a:t>
            </a:r>
            <a:r>
              <a:rPr sz="1200" dirty="0">
                <a:latin typeface="Arial"/>
              </a:rPr>
              <a:t>Chen, J., et al. (2024). 'BGE-M3: Multi-Functionality, Multi-</a:t>
            </a:r>
            <a:r>
              <a:rPr sz="1200" dirty="0" err="1">
                <a:latin typeface="Arial"/>
              </a:rPr>
              <a:t>Linguality</a:t>
            </a:r>
            <a:r>
              <a:rPr sz="1200" dirty="0">
                <a:latin typeface="Arial"/>
              </a:rPr>
              <a:t>, and Multi-Granularity Embeddings' (Dense Vector Retrieval).</a:t>
            </a:r>
          </a:p>
          <a:p>
            <a:pPr>
              <a:spcAft>
                <a:spcPts val="200"/>
              </a:spcAft>
            </a:pPr>
            <a:r>
              <a:rPr sz="1200" dirty="0">
                <a:latin typeface="Arial"/>
              </a:rPr>
              <a:t>   • </a:t>
            </a:r>
            <a:r>
              <a:rPr sz="1200" b="1" dirty="0">
                <a:latin typeface="Arial"/>
              </a:rPr>
              <a:t>HNSW Vector Indexing: </a:t>
            </a:r>
            <a:r>
              <a:rPr sz="1200" dirty="0">
                <a:latin typeface="Arial"/>
              </a:rPr>
              <a:t>Malkov, Y. A., &amp; </a:t>
            </a:r>
            <a:r>
              <a:rPr sz="1200" dirty="0" err="1">
                <a:latin typeface="Arial"/>
              </a:rPr>
              <a:t>Yashunin</a:t>
            </a:r>
            <a:r>
              <a:rPr sz="1200" dirty="0">
                <a:latin typeface="Arial"/>
              </a:rPr>
              <a:t>, D. A. (IEEE TPAMI 2018). 'Efficient and Robust Approximate Nearest Neighbor Search Using HNSW Graphs.'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dirty="0">
                <a:solidFill>
                  <a:srgbClr val="003366"/>
                </a:solidFill>
                <a:latin typeface="Arial"/>
              </a:rPr>
              <a:t>3. Document Intelligence &amp; Computer Vision</a:t>
            </a:r>
          </a:p>
          <a:p>
            <a:pPr>
              <a:spcAft>
                <a:spcPts val="200"/>
              </a:spcAft>
            </a:pPr>
            <a:r>
              <a:rPr sz="1200" dirty="0">
                <a:latin typeface="Arial"/>
              </a:rPr>
              <a:t>   • </a:t>
            </a:r>
            <a:r>
              <a:rPr sz="1200" b="1" dirty="0" err="1">
                <a:latin typeface="Arial"/>
              </a:rPr>
              <a:t>PaddleOCR</a:t>
            </a:r>
            <a:r>
              <a:rPr sz="1200" b="1" dirty="0">
                <a:latin typeface="Arial"/>
              </a:rPr>
              <a:t> (PP-OCRv4): </a:t>
            </a:r>
            <a:r>
              <a:rPr sz="1200" dirty="0">
                <a:latin typeface="Arial"/>
              </a:rPr>
              <a:t>Du, Y., et al. (2023). 'PP-OCR: A Practical Ultra Lightweight OCR System' (Direction detection &amp; angle classification).</a:t>
            </a:r>
          </a:p>
          <a:p>
            <a:pPr>
              <a:spcAft>
                <a:spcPts val="200"/>
              </a:spcAft>
            </a:pPr>
            <a:r>
              <a:rPr sz="1200" dirty="0">
                <a:latin typeface="Arial"/>
              </a:rPr>
              <a:t>   • </a:t>
            </a:r>
            <a:r>
              <a:rPr sz="1200" b="1" dirty="0" err="1">
                <a:latin typeface="Arial"/>
              </a:rPr>
              <a:t>PyMuPDF</a:t>
            </a:r>
            <a:r>
              <a:rPr sz="1200" b="1" dirty="0">
                <a:latin typeface="Arial"/>
              </a:rPr>
              <a:t>: </a:t>
            </a:r>
            <a:r>
              <a:rPr sz="1200" dirty="0">
                <a:latin typeface="Arial"/>
              </a:rPr>
              <a:t>McKie, P., &amp; Liu, R. 'High-Performance Document Processing with </a:t>
            </a:r>
            <a:r>
              <a:rPr sz="1200" dirty="0" err="1">
                <a:latin typeface="Arial"/>
              </a:rPr>
              <a:t>MuPDF</a:t>
            </a:r>
            <a:r>
              <a:rPr sz="1200" dirty="0">
                <a:latin typeface="Arial"/>
              </a:rPr>
              <a:t>' (Direct digital text stream extraction).</a:t>
            </a:r>
          </a:p>
          <a:p>
            <a:pPr>
              <a:spcAft>
                <a:spcPts val="200"/>
              </a:spcAft>
            </a:pPr>
            <a:r>
              <a:rPr sz="1200" dirty="0">
                <a:latin typeface="Arial"/>
              </a:rPr>
              <a:t>   • </a:t>
            </a:r>
            <a:r>
              <a:rPr sz="1200" b="1" dirty="0">
                <a:latin typeface="Arial"/>
              </a:rPr>
              <a:t>EN 10204 (Types 3.1 &amp; 3.2): </a:t>
            </a:r>
            <a:r>
              <a:rPr sz="1200" dirty="0">
                <a:latin typeface="Arial"/>
              </a:rPr>
              <a:t>Metallic Products - Types of Inspection Documents for Mill Test Certificates (MTCs).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dirty="0">
                <a:solidFill>
                  <a:srgbClr val="003366"/>
                </a:solidFill>
                <a:latin typeface="Arial"/>
              </a:rPr>
              <a:t>4. Public Procurement Policies &amp; Taxonomies</a:t>
            </a:r>
          </a:p>
          <a:p>
            <a:pPr>
              <a:spcAft>
                <a:spcPts val="200"/>
              </a:spcAft>
            </a:pPr>
            <a:r>
              <a:rPr sz="1200" dirty="0">
                <a:latin typeface="Arial"/>
              </a:rPr>
              <a:t>   • </a:t>
            </a:r>
            <a:r>
              <a:rPr sz="1200" b="1" dirty="0">
                <a:latin typeface="Arial"/>
              </a:rPr>
              <a:t>UNSPSC v26.0 &amp; </a:t>
            </a:r>
            <a:r>
              <a:rPr sz="1200" b="1" dirty="0" err="1">
                <a:latin typeface="Arial"/>
              </a:rPr>
              <a:t>GeM</a:t>
            </a:r>
            <a:r>
              <a:rPr sz="1200" b="1" dirty="0">
                <a:latin typeface="Arial"/>
              </a:rPr>
              <a:t>: </a:t>
            </a:r>
            <a:r>
              <a:rPr sz="1200" dirty="0">
                <a:latin typeface="Arial"/>
              </a:rPr>
              <a:t>United Nations Standard Products &amp; Services Code (Segment 40) and Government e-Marketplace Category Schema.</a:t>
            </a:r>
          </a:p>
          <a:p>
            <a:pPr>
              <a:spcAft>
                <a:spcPts val="200"/>
              </a:spcAft>
            </a:pPr>
            <a:r>
              <a:rPr sz="1200" dirty="0">
                <a:latin typeface="Arial"/>
              </a:rPr>
              <a:t>   • </a:t>
            </a:r>
            <a:r>
              <a:rPr sz="1200" b="1" dirty="0" err="1">
                <a:latin typeface="Arial"/>
              </a:rPr>
              <a:t>MoPNG</a:t>
            </a:r>
            <a:r>
              <a:rPr sz="1200" b="1" dirty="0">
                <a:latin typeface="Arial"/>
              </a:rPr>
              <a:t> &amp; DPE Directives: </a:t>
            </a:r>
            <a:r>
              <a:rPr sz="1200" dirty="0">
                <a:latin typeface="Arial"/>
              </a:rPr>
              <a:t>Department of Public Enterprises Guidelines on Inter-Enterprise Inventory Optimization &amp; Working Capital Rationalization in CPSEs.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7623</TotalTime>
  <Words>1491</Words>
  <Application>Microsoft Office PowerPoint</Application>
  <PresentationFormat>Widescreen</PresentationFormat>
  <Paragraphs>112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Samanvay-AI: Cross-CPSE Material Harmonization Engine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Mayank Anand</cp:lastModifiedBy>
  <cp:revision>156</cp:revision>
  <dcterms:created xsi:type="dcterms:W3CDTF">2013-12-12T18:46:50Z</dcterms:created>
  <dcterms:modified xsi:type="dcterms:W3CDTF">2026-09-11T08:10:16Z</dcterms:modified>
  <cp:category/>
</cp:coreProperties>
</file>